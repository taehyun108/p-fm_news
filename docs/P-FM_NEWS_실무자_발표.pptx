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B740"/>
                </a:solidFill>
                <a:latin typeface="맑은 고딕"/>
              </a:rPr>
              <a:t>실무자 사용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95728"/>
            <a:ext cx="1087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P-FM News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29000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7D3EE"/>
                </a:solidFill>
                <a:latin typeface="맑은 고딕"/>
              </a:rPr>
              <a:t>포스코 그룹·이차전지 뉴스를 </a:t>
            </a:r>
            <a:r>
              <a:rPr sz="1700" b="1">
                <a:solidFill>
                  <a:srgbClr val="FFFFFF"/>
                </a:solidFill>
                <a:latin typeface="맑은 고딕"/>
              </a:rPr>
              <a:t>실시간 수집·요약·알림</a:t>
            </a:r>
            <a:r>
              <a:rPr sz="1700" b="0">
                <a:solidFill>
                  <a:srgbClr val="C7D3EE"/>
                </a:solidFill>
                <a:latin typeface="맑은 고딕"/>
              </a:rPr>
              <a:t>하는 사내 플랫폼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57200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631436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매일 자동 수집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288" y="4572000"/>
            <a:ext cx="18745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4631436"/>
            <a:ext cx="1874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AI 요약 + 포스코 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4572000"/>
            <a:ext cx="10744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4631436"/>
            <a:ext cx="10744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텔레그램 알림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5128" y="4572000"/>
            <a:ext cx="1303020" cy="310896"/>
          </a:xfrm>
          <a:prstGeom prst="roundRect">
            <a:avLst>
              <a:gd name="adj" fmla="val 50000"/>
            </a:avLst>
          </a:prstGeom>
          <a:solidFill>
            <a:srgbClr val="24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25128" y="4631436"/>
            <a:ext cx="13030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맑은 고딕"/>
              </a:rPr>
              <a:t>대외협력 모니터링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0644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B0D8"/>
                </a:solidFill>
                <a:latin typeface="맑은 고딕"/>
              </a:rPr>
              <a:t>10분 · 화면 둘러보기 · 알림 설정 · 중요도 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01  왜 만들었나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하루 367건, 사람이 다 읽으면 1년에 11,163시간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기사가 넘쳐날수록 판단 기준은 사람마다 달라지고, 일관성을 지키기 어렵습니다.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442106" cy="141732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65960"/>
            <a:ext cx="3442106" cy="6400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157984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B6476"/>
                </a:solidFill>
                <a:latin typeface="맑은 고딕"/>
              </a:rPr>
              <a:t>하루 수집 기사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523744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337A"/>
                </a:solidFill>
                <a:latin typeface="맑은 고딕"/>
              </a:rPr>
              <a:t>367건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30031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B6476"/>
                </a:solidFill>
                <a:latin typeface="맑은 고딕"/>
              </a:rPr>
              <a:t>최근 7일 실측 평균 · 그룹사·이차전지·정책 키워드 118개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965960"/>
            <a:ext cx="3442106" cy="141732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965960"/>
            <a:ext cx="3442106" cy="6400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250" y="2157984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B6476"/>
                </a:solidFill>
                <a:latin typeface="맑은 고딕"/>
              </a:rPr>
              <a:t>1주일만 지나도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250" y="2523744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337A"/>
                </a:solidFill>
                <a:latin typeface="맑은 고딕"/>
              </a:rPr>
              <a:t>2,607건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4250" y="2980944"/>
            <a:ext cx="30031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B6476"/>
                </a:solidFill>
                <a:latin typeface="맑은 고딕"/>
              </a:rPr>
              <a:t>7일 누적 수집 건수 (실측)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1220" y="1965960"/>
            <a:ext cx="3442106" cy="141732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1965960"/>
            <a:ext cx="3442106" cy="640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0676" y="2157984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B6476"/>
                </a:solidFill>
                <a:latin typeface="맑은 고딕"/>
              </a:rPr>
              <a:t>사람이 건당 5분씩 분석한다면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0676" y="2523744"/>
            <a:ext cx="30031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0392B"/>
                </a:solidFill>
                <a:latin typeface="맑은 고딕"/>
              </a:rPr>
              <a:t>연 11,163시간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0676" y="2980944"/>
            <a:ext cx="300319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B6476"/>
                </a:solidFill>
                <a:latin typeface="맑은 고딕"/>
              </a:rPr>
              <a:t>정규직 약 5.6명이 1년 내내 매달려야 하는 양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367588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11880"/>
            <a:ext cx="106189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정보 과부하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기사가 넘쳐날수록 무엇을 먼저 봐야 할지 판단하기 어렵고, 확인 기준이 사람마다 달라 일관성을 유지하기 힘듭니다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" y="4242816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78808"/>
            <a:ext cx="106189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놓치면 큰일 나는 것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포스코 노조 파업 · 미국 반덤핑 관세 · 경쟁사 증설·투자 · IRA/CBAM 세부지침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" y="4809744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745736"/>
            <a:ext cx="1061892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B1F2A"/>
                </a:solidFill>
                <a:latin typeface="맑은 고딕"/>
              </a:rPr>
              <a:t>AI 자동화의 역할</a:t>
            </a:r>
            <a:r>
              <a:rPr sz="1250" b="0">
                <a:solidFill>
                  <a:srgbClr val="5B6476"/>
                </a:solidFill>
                <a:latin typeface="맑은 고딕"/>
              </a:rPr>
              <a:t>  AI가 자동으로 수집·분석해 핵심만 빠르게 파악하게 하고, 그만큼 빨리 대응 전략을 세울 수 있게 합니다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486400"/>
            <a:ext cx="10874959" cy="530352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632703"/>
            <a:ext cx="10326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결과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확인에 드는 시간을 걷어낸 만큼, 회사의 리스크가 줄어듭니다.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1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02  한눈에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기사가 여러분에게 오기까지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5분마다 자동으로 돕니다. 여러분은 마지막 두 칸만 보면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1.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5B6476"/>
                </a:solidFill>
                <a:latin typeface="맑은 고딕"/>
              </a:rPr>
              <a:t>네이버·구글·RSS
키워드 검색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70048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26080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2. 걸러내기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5B6476"/>
                </a:solidFill>
                <a:latin typeface="맑은 고딕"/>
              </a:rPr>
              <a:t>관련성·중복 제거
중요도 점수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37760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3. AI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5B6476"/>
                </a:solidFill>
                <a:latin typeface="맑은 고딕"/>
              </a:rPr>
              <a:t>3~5문장 요약
포스코 관점 · SWOT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205472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61504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4. 웹 게시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2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C7D3EE"/>
                </a:solidFill>
                <a:latin typeface="맑은 고딕"/>
              </a:rPr>
              <a:t>포토카드로
전체 기사·대외협력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73184" y="3072384"/>
            <a:ext cx="237744" cy="201168"/>
          </a:xfrm>
          <a:prstGeom prst="rightArrow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29216" y="2377440"/>
            <a:ext cx="1993392" cy="1554480"/>
          </a:xfrm>
          <a:prstGeom prst="roundRect">
            <a:avLst>
              <a:gd name="adj" fmla="val 8000"/>
            </a:avLst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9216" y="2596896"/>
            <a:ext cx="19933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5. 알림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38944" y="3017520"/>
            <a:ext cx="177393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1000" b="0">
                <a:solidFill>
                  <a:srgbClr val="C7D3EE"/>
                </a:solidFill>
                <a:latin typeface="맑은 고딕"/>
              </a:rPr>
              <a:t>중요 기사만
텔레그램 채널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434840"/>
            <a:ext cx="10874959" cy="141732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4645152"/>
            <a:ext cx="1025316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여러분이 보는 것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① 웹 화면 — 전체 기사·대외협력·주간동향 (필터·검색·즐겨찾기)</a:t>
            </a:r>
          </a:p>
          <a:p>
            <a:pPr algn="l">
              <a:lnSpc>
                <a:spcPct val="135000"/>
              </a:lnSpc>
            </a:pPr>
            <a:r>
              <a:rPr sz="600" b="0">
                <a:solidFill>
                  <a:srgbClr val="1B1F2A"/>
                </a:solidFill>
                <a:latin typeface="맑은 고딕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                   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② 텔레그램 채널 — 중요 기사가 요약·포스코 관점과 함께 실시간 도착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2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03  화면 둘러보기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전체 기사 — 포토카드 피드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수집·분석이 끝난 기사가 최신순으로. 필터로 원하는 것만 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5394960" cy="1874519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011680"/>
            <a:ext cx="64008" cy="1874519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카드 하나에 담긴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578608"/>
            <a:ext cx="4992624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제목 · 언론사 · 기자 · 발행시각 · 썸네일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AI 요약 3~5문장 (사실만, 재서술)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포스코 관점 — 소재사업 시사점 1~2문장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SWOT 배지 (숫자 클릭 → S/W/O/T 근거)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그룹사·카테고리·키워드 태그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2011680"/>
            <a:ext cx="5394960" cy="1874519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2011680"/>
            <a:ext cx="64008" cy="1874519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필터 (왼쪽 접이식)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78608"/>
            <a:ext cx="4992624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기간 — 오늘 / 7일 / 30일 / 전체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정렬 — 최신순 / 중요도순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그룹사 · 카테고리 · 언론사 (중복 선택)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검색 — 제목·요약·기자·언론사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★ 즐겨찾기 — 카드 우측 별표, 브라우저에 저장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06240"/>
            <a:ext cx="10874959" cy="155448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407408"/>
            <a:ext cx="1025316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팁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‘중요도순’ + 카테고리 ‘배터리·이차전지’ 로 두면 소재사업 핵심만 위로 올라옵니다.</a:t>
            </a:r>
          </a:p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팁  </a:t>
            </a:r>
            <a:r>
              <a:rPr sz="1200" b="0">
                <a:solidFill>
                  <a:srgbClr val="1B1F2A"/>
                </a:solidFill>
                <a:latin typeface="맑은 고딕"/>
              </a:rPr>
              <a:t>기사 URL 을 직접 넣어 카드로 만들 수 있습니다 (하단 ‘URL 로 포토카드 만들기’) — 슬라이드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3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04  화면 둘러보기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대외협력 (/ea) — 대관·통상 모니터링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헤더 ‘🏛 대외협력’ 버튼. 뉴스 피드와 분리된 전용 화면입니다.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10874959" cy="40233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66544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58763" y="2066544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2024" y="2066544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핵심 지표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368296"/>
            <a:ext cx="10874959" cy="402336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76110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478024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입법·행정예고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8763" y="2478024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정부 입법·행정예고 (국민참여입법센터)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2024" y="2478024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맑은 고딕"/>
              </a:rPr>
              <a:t>의견제출 마감 D-day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163443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880360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국회 의안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8763" y="2880360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발의 법률안 (열린국회정보)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2024" y="2880360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소관 상임위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2968"/>
            <a:ext cx="10874959" cy="402336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56577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282696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정책 동향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8763" y="3282696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정부/정책 기사 (korea.kr 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2024" y="3282696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발표 부처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968115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685032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통상 환경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8763" y="3685032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KOTRA 해외시장뉴스 (반덤핑·CBAM·수출통제)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2024" y="3685032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맑은 고딕"/>
              </a:rPr>
              <a:t>영향도 high/med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3977640"/>
            <a:ext cx="10874959" cy="402336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370451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87368"/>
            <a:ext cx="20894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부처별 동향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8763" y="4087368"/>
            <a:ext cx="5660381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부처 정책뉴스 (산업통상부 등)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2024" y="4087368"/>
            <a:ext cx="257643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부처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800600"/>
            <a:ext cx="10874959" cy="100584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9264" y="4974336"/>
            <a:ext cx="1025316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필터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카테고리 · 기관(부처·상임위·KOTRA) · 영향도 · 포스코 그룹사 · 정렬(마감임박/최신/영향도).  </a:t>
            </a:r>
          </a:p>
          <a:p>
            <a:pPr algn="l">
              <a:lnSpc>
                <a:spcPct val="140000"/>
              </a:lnSpc>
            </a:pPr>
            <a:r>
              <a:rPr sz="1250" b="1">
                <a:solidFill>
                  <a:srgbClr val="16337A"/>
                </a:solidFill>
                <a:latin typeface="맑은 고딕"/>
              </a:rPr>
              <a:t>          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입법·행정예고는 마감 D-7 이내면 상단에 빨간 배너로 뜹니다.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4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05  화면 둘러보기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주간동향 · 즐겨찾기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매주 정리된 요약과, 내가 따로 모아 둔 기사.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5394960" cy="2743200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011680"/>
            <a:ext cx="64008" cy="2743200"/>
          </a:xfrm>
          <a:prstGeom prst="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📈 주간동향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578608"/>
            <a:ext cx="4992624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월요일 아침 자동 생성 (이메일로도 발송)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한 주치 기사를 계열사·주제별로 묶음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계열사별 주간 종합 SWOT (LLM 합성)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정부/정책 · 글로벌 통상환경 영향 분석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지난 레포트도 드롭다운에서 다시 조회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수신자는 마스터 패널에서 추가 (슬라이드 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2011680"/>
            <a:ext cx="5394960" cy="2743200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2011680"/>
            <a:ext cx="64008" cy="2743200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★ 즐겨찾기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78608"/>
            <a:ext cx="4992624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카드 우측 상단 별표를 누르면 저장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헤더 ‘★ 즐겨찾기’ 로 모아 보기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브라우저(기기)별로 저장 — 로그인 불필요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회의·보고 준비용 스크랩북으로 활용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별표 해제하면 즐겨찾기 화면에서 바로 사라짐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5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06  텔레그램 알림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무엇이, 언제 오나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채널 초대 링크는 헤더 ‘✈ Telegram 채널’. 봇이 개별 카드로 보냅니다.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202996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오는 기사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중요도 ‘임계값(기본 50)’ 이상 + 관련성 통과 + 발행 6시간 이내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615184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한 건씩 개별 카드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제목·언론사·요약·포스코 관점·점수·태그 — 묶음(다이제스트) 없음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200400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36392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야간 규칙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밤 11시~오전 7시엔 80점 이상 또는 예외 규칙 건만 즉시, 나머지는 아침에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785616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1061892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중복은 자동 제거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같은 사건을 여러 매체가 쓰면 대표 1건만, 더 권위 있는 매체로 승격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663440"/>
            <a:ext cx="10874959" cy="114300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864608"/>
            <a:ext cx="102531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직접 등록한 기사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URL 로 만든 카드가 임계값을 넘으면 채널에도 발송됩니다 (사람이 고른 것이라 야간·억제 무시).</a:t>
            </a:r>
          </a:p>
          <a:p>
            <a:pPr algn="l">
              <a:lnSpc>
                <a:spcPct val="140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발송이 멈췄다면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마스터 패널 ‘텔레그램 알림 사용’ 스위치 또는 봇 /stop 상태를 확인하세요.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6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07  중요도 점수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0~100점, 규칙으로 매깁니다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제목·본문·언론사를 규칙으로 채점. 임계값·정렬·야간 규칙의 기준입니다.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10874959" cy="38404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39112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무엇이 있으면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7303" y="2039112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점수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22576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69709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432304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포스코퓨처엠이 제목에 / 본문에만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7303" y="2432304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+50 / +40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8114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816352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다른 계열사(홀딩스·DX·인터내셔널·이앤씨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7303" y="2816352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90672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465195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200400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배터리 생태계(소재·셀·전기차·ESS·원료) 제목에 / 본문에만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7303" y="3200400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+25 / +12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49243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584448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해외 통상 조치(IRA·CBAM·반덤핑 등) 신호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7303" y="3584448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58768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233291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968496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정책 키워드(전기요금·배출권·특화단지 등)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7303" y="3968496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61733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4352544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주요 언론사(연합·전자신문·머니투데이 등)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7303" y="4352544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7A"/>
                </a:solidFill>
                <a:latin typeface="맑은 고딕"/>
              </a:rPr>
              <a:t>+10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4626864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00138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736592"/>
            <a:ext cx="844803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단순 시황·주가 기사(목표주가·코스피·투자의견)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7303" y="4736592"/>
            <a:ext cx="20611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맑은 고딕"/>
              </a:rPr>
              <a:t>−15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303520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6" y="5440680"/>
            <a:ext cx="102897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예)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“포스코퓨처엠 양극재 3만톤 증설”(조선일보) = 50 + 10 = 60점  ·  임계값 50이면 → 알림 발송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7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08  마스터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내가 원하는 알림만 받기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헤더 ‘🔒 마스터’ + 비밀번호. 설정은 전 사용자 공통으로 적용됩니다.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10874959" cy="384048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39112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2226" y="2039112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3615" y="2039112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이렇게 쓰세요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322576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269709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432304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2226" y="2432304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텔레그램 알림 사용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15" y="2432304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전체 ON/OFF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81147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816352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2226" y="2816352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중요도 임계값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3615" y="2816352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낮추면 많이 · 올리면 핵심만 (권장 40+)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90672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465195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200400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2226" y="3200400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무조건 발송 점수 / 항상 발송 키워드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3615" y="3200400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이건 밤에도·점수 무관하게 꼭 받겠다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849243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584448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2226" y="3584448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정책브리핑 · 통상환경 켜기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3615" y="3584448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2단 키워드로 관심 주제만 골라 받기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3858768"/>
            <a:ext cx="10874959" cy="384048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233291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3968496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2226" y="3968496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주간 레포트 수신자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15" y="3968496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이메일 추가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617339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352544"/>
            <a:ext cx="58296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2226" y="4352544"/>
            <a:ext cx="47185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비밀번호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3615" y="4352544"/>
            <a:ext cx="502484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1F2A"/>
                </a:solidFill>
                <a:latin typeface="맑은 고딕"/>
              </a:rPr>
              <a:t>운영자만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4983480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76" y="5138928"/>
            <a:ext cx="102897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6337A"/>
                </a:solidFill>
                <a:latin typeface="맑은 고딕"/>
              </a:rPr>
              <a:t>2단 키워드 예)  </a:t>
            </a:r>
            <a:r>
              <a:rPr sz="1150" b="0">
                <a:solidFill>
                  <a:srgbClr val="1B1F2A"/>
                </a:solidFill>
                <a:latin typeface="맑은 고딕"/>
              </a:rPr>
              <a:t>① ‘전기요금’ + ② ‘산업’  →  “산업용 전기요금” 은 발송, “가정용 전기요금” 은 제외.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09  직접 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빠진 기사를 직접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수집기가 놓친 기사를 두 가지 방법으로 카드로 만듭니다.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011680"/>
            <a:ext cx="5394960" cy="2377440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011680"/>
            <a:ext cx="64008" cy="2377440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방법 A — 웹에서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578608"/>
            <a:ext cx="499262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1. 하단 ‘URL 로 포토카드 만들기’ 에 링크 붙여넣기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2. ‘분석’ → 미리보기(제목·요약·SWOT) 확인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3. ‘등록’ → 전체 기사 목록에 추가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오래된 기사도 등록됨 · 「✍ 직접 등록」 배지 표시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2011680"/>
            <a:ext cx="5394960" cy="2377440"/>
          </a:xfrm>
          <a:prstGeom prst="roundRect">
            <a:avLst>
              <a:gd name="adj" fmla="val 5500"/>
            </a:avLst>
          </a:prstGeom>
          <a:solidFill>
            <a:srgbClr val="F7F8FB"/>
          </a:solidFill>
          <a:ln w="12700">
            <a:solidFill>
              <a:srgbClr val="C8D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27648" y="2011680"/>
            <a:ext cx="64008" cy="2377440"/>
          </a:xfrm>
          <a:prstGeom prst="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176272"/>
            <a:ext cx="4992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2456"/>
                </a:solidFill>
                <a:latin typeface="맑은 고딕"/>
              </a:rPr>
              <a:t>방법 B — 텔레그램 봇에게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578608"/>
            <a:ext cx="499262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1. 봇 DM 에 기사 URL 을 그대로 전송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2. 10~20초 뒤 분석된 카드가 답장으로 옴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3. 임계값을 넘으면 채널에도 자동 발송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B6476"/>
                </a:solidFill>
                <a:latin typeface="맑은 고딕"/>
              </a:rPr>
              <a:t>· 이동 중에 빠르게 공유할 때 편리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663440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846320"/>
            <a:ext cx="102897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1F2A"/>
                </a:solidFill>
                <a:latin typeface="맑은 고딕"/>
              </a:rPr>
              <a:t>등록한 기사도 요약·포스코 관점·SWOT 이 자동 생성되고, 중요도순 정렬에서 위로 올라옵니다.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9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4B740"/>
                </a:solidFill>
                <a:latin typeface="맑은 고딕"/>
              </a:rPr>
              <a:t>10  꼭 알아둘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836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E2456"/>
                </a:solidFill>
                <a:latin typeface="맑은 고딕"/>
              </a:rPr>
              <a:t>출처와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43584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B6476"/>
                </a:solidFill>
                <a:latin typeface="맑은 고딕"/>
              </a:rPr>
              <a:t>업무에 쓰기 전에 이 네 가지를 기억하세요.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10874959" cy="9525"/>
          </a:xfrm>
          <a:prstGeom prst="rect">
            <a:avLst/>
          </a:prstGeom>
          <a:solidFill>
            <a:srgbClr val="C8D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2029968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요약은 재서술, 원문이 원본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본문 전문은 저장·게시하지 않습니다. 인용·보고 전 반드시 ‘원문’ 링크 확인.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651760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87752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AI 분석은 초안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포스코 관점·SWOT·대외협력 영향도는 검토용 초안이며 확정 의견이 아닙니다.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273552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09544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시세는 참고용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헤더 티커의 주가·환율은 지연될 수 있고 투자 권유가 아닙니다.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895344"/>
            <a:ext cx="91440" cy="91440"/>
          </a:xfrm>
          <a:prstGeom prst="ellipse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31336"/>
            <a:ext cx="106189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1B1F2A"/>
                </a:solidFill>
                <a:latin typeface="맑은 고딕"/>
              </a:rPr>
              <a:t>수집 사각지대</a:t>
            </a:r>
            <a:r>
              <a:rPr sz="1350" b="0">
                <a:solidFill>
                  <a:srgbClr val="5B6476"/>
                </a:solidFill>
                <a:latin typeface="맑은 고딕"/>
              </a:rPr>
              <a:t>  네이버·RSS·정부 사이트 기반이라 100% 아닙니다 — 빠지면 URL 로 직접 등록.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060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4937760"/>
            <a:ext cx="102897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B1F2A"/>
                </a:solidFill>
                <a:latin typeface="맑은 고딕"/>
              </a:rPr>
              <a:t>저작권은 각 언론사에 있습니다. 화면은 제목·요약·링크만 제공합니다.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A3B2"/>
                </a:solidFill>
                <a:latin typeface="맑은 고딕"/>
              </a:rPr>
              <a:t>P-FM NEWS · 포스코 그룹 뉴스 인텔리전스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604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B6476"/>
                </a:solidFill>
                <a:latin typeface="맑은 고딕"/>
              </a:rPr>
              <a:t>10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B740"/>
                </a:solidFill>
                <a:latin typeface="맑은 고딕"/>
              </a:rPr>
              <a:t>11  시작하기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3분이면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3464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1. 웹 접속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2862072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사내망에서 서버 주소로 접속 — 전체 기사가 바로 보입니다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58444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2. 텔레그램 채널 참여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8" y="3611880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헤더 ‘✈ Telegram 채널’ 초대 링크 → 채널 입장 → 알림 수신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3425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3. 즐겨찾기·필터 익히기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4361688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중요도순 정렬 + 관심 카테고리로 나만의 화면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84064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4. (운영자) 마스터 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5111496"/>
            <a:ext cx="78574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C7D3EE"/>
                </a:solidFill>
                <a:latin typeface="맑은 고딕"/>
              </a:rPr>
              <a:t>임계값·키워드·주간 레포트 수신자 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43600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AB0D8"/>
                </a:solidFill>
                <a:latin typeface="맑은 고딕"/>
              </a:rPr>
              <a:t>문의 · 개선 요청 — 대외협력팀  ·  기사 누락 신고는 URL 직접 등록으로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