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4B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965960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4B740"/>
                </a:solidFill>
                <a:latin typeface="맑은 고딕"/>
              </a:rPr>
              <a:t>실무자 사용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395728"/>
            <a:ext cx="1087495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>
                <a:solidFill>
                  <a:srgbClr val="FFFFFF"/>
                </a:solidFill>
                <a:latin typeface="맑은 고딕"/>
              </a:rPr>
              <a:t>P-FM News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429000"/>
            <a:ext cx="1087495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C7D3EE"/>
                </a:solidFill>
                <a:latin typeface="맑은 고딕"/>
              </a:rPr>
              <a:t>포스코 그룹·이차전지 뉴스를 </a:t>
            </a:r>
            <a:r>
              <a:rPr sz="1700" b="1">
                <a:solidFill>
                  <a:srgbClr val="FFFFFF"/>
                </a:solidFill>
                <a:latin typeface="맑은 고딕"/>
              </a:rPr>
              <a:t>실시간 수집·요약·알림</a:t>
            </a:r>
            <a:r>
              <a:rPr sz="1700" b="0">
                <a:solidFill>
                  <a:srgbClr val="C7D3EE"/>
                </a:solidFill>
                <a:latin typeface="맑은 고딕"/>
              </a:rPr>
              <a:t>하는 사내 플랫폼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57200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244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4631436"/>
            <a:ext cx="1188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맑은 고딕"/>
              </a:rPr>
              <a:t>매일 자동 수집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7288" y="4572000"/>
            <a:ext cx="1874520" cy="310896"/>
          </a:xfrm>
          <a:prstGeom prst="roundRect">
            <a:avLst>
              <a:gd name="adj" fmla="val 50000"/>
            </a:avLst>
          </a:prstGeom>
          <a:solidFill>
            <a:srgbClr val="244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47288" y="4631436"/>
            <a:ext cx="1874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맑은 고딕"/>
              </a:rPr>
              <a:t>AI 요약 + 포스코 관점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4572000"/>
            <a:ext cx="1074420" cy="310896"/>
          </a:xfrm>
          <a:prstGeom prst="roundRect">
            <a:avLst>
              <a:gd name="adj" fmla="val 50000"/>
            </a:avLst>
          </a:prstGeom>
          <a:solidFill>
            <a:srgbClr val="244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6208" y="4631436"/>
            <a:ext cx="10744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맑은 고딕"/>
              </a:rPr>
              <a:t>텔레그램 알림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25128" y="4572000"/>
            <a:ext cx="1303020" cy="310896"/>
          </a:xfrm>
          <a:prstGeom prst="roundRect">
            <a:avLst>
              <a:gd name="adj" fmla="val 50000"/>
            </a:avLst>
          </a:prstGeom>
          <a:solidFill>
            <a:srgbClr val="244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25128" y="4631436"/>
            <a:ext cx="13030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맑은 고딕"/>
              </a:rPr>
              <a:t>대외협력 모니터링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806440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AB0D8"/>
                </a:solidFill>
                <a:latin typeface="맑은 고딕"/>
              </a:rPr>
              <a:t>10분 · 화면 둘러보기 · 알림 설정 · 중요도 점수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63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4B740"/>
                </a:solidFill>
                <a:latin typeface="맑은 고딕"/>
              </a:rPr>
              <a:t>01  왜 만들었나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8749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0E2456"/>
                </a:solidFill>
                <a:latin typeface="맑은 고딕"/>
              </a:rPr>
              <a:t>하루 수천 건 기사, 놓치면 안 되는 것은 소수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43584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B6476"/>
                </a:solidFill>
                <a:latin typeface="맑은 고딕"/>
              </a:rPr>
              <a:t>관련 뉴스를 사람이 매일 훑는 것은 불가능하고, 정작 중요한 건은 묻힙니다.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645920"/>
            <a:ext cx="10874959" cy="9525"/>
          </a:xfrm>
          <a:prstGeom prst="rect">
            <a:avLst/>
          </a:prstGeom>
          <a:solidFill>
            <a:srgbClr val="C8D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965960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E2456"/>
                </a:solidFill>
                <a:latin typeface="맑은 고딕"/>
              </a:rPr>
              <a:t>하루에 들어오는 기사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77440"/>
            <a:ext cx="10874959" cy="603504"/>
          </a:xfrm>
          <a:prstGeom prst="roundRect">
            <a:avLst>
              <a:gd name="adj" fmla="val 6000"/>
            </a:avLst>
          </a:prstGeom>
          <a:solidFill>
            <a:srgbClr val="F7F8FB"/>
          </a:solidFill>
          <a:ln w="12700">
            <a:solidFill>
              <a:srgbClr val="C8D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523744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6337A"/>
                </a:solidFill>
                <a:latin typeface="맑은 고딕"/>
              </a:rPr>
              <a:t>약 3,600건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67328" y="2578608"/>
            <a:ext cx="75831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B6476"/>
                </a:solidFill>
                <a:latin typeface="맑은 고딕"/>
              </a:rPr>
              <a:t>네이버·구글·언론사 RSS 에서 그룹사·이차전지·정책·통상 키워드로 수집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12967" y="3218688"/>
            <a:ext cx="365760" cy="201168"/>
          </a:xfrm>
          <a:prstGeom prst="rightArrow">
            <a:avLst/>
          </a:prstGeom>
          <a:solidFill>
            <a:srgbClr val="C8D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" y="3657600"/>
            <a:ext cx="10874959" cy="603504"/>
          </a:xfrm>
          <a:prstGeom prst="roundRect">
            <a:avLst>
              <a:gd name="adj" fmla="val 6000"/>
            </a:avLst>
          </a:prstGeom>
          <a:solidFill>
            <a:srgbClr val="EAF0FB"/>
          </a:solidFill>
          <a:ln w="12700">
            <a:solidFill>
              <a:srgbClr val="C8D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3803904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6337A"/>
                </a:solidFill>
                <a:latin typeface="맑은 고딕"/>
              </a:rPr>
              <a:t>실제 알림 5~15건/일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24528" y="3858768"/>
            <a:ext cx="712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B6476"/>
                </a:solidFill>
                <a:latin typeface="맑은 고딕"/>
              </a:rPr>
              <a:t>중요도 점수·관련성 필터·중복 제거를 거쳐 걸러진 것만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4773168"/>
            <a:ext cx="91440" cy="91440"/>
          </a:xfrm>
          <a:prstGeom prst="ellipse">
            <a:avLst/>
          </a:prstGeom>
          <a:solidFill>
            <a:srgbClr val="163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709160"/>
            <a:ext cx="10618927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1B1F2A"/>
                </a:solidFill>
                <a:latin typeface="맑은 고딕"/>
              </a:rPr>
              <a:t>놓치면 큰일 나는 것</a:t>
            </a:r>
            <a:r>
              <a:rPr sz="1350" b="0">
                <a:solidFill>
                  <a:srgbClr val="5B6476"/>
                </a:solidFill>
                <a:latin typeface="맑은 고딕"/>
              </a:rPr>
              <a:t>  포스코 노조 파업 · 미국 반덤핑 관세 · 경쟁사 증설·투자 · IRA/CBAM 세부지침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" y="5376672"/>
            <a:ext cx="91440" cy="91440"/>
          </a:xfrm>
          <a:prstGeom prst="ellipse">
            <a:avLst/>
          </a:prstGeom>
          <a:solidFill>
            <a:srgbClr val="163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312664"/>
            <a:ext cx="10618927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1B1F2A"/>
                </a:solidFill>
                <a:latin typeface="맑은 고딕"/>
              </a:rPr>
              <a:t>사람이 하던 일</a:t>
            </a:r>
            <a:r>
              <a:rPr sz="1350" b="0">
                <a:solidFill>
                  <a:srgbClr val="5B6476"/>
                </a:solidFill>
                <a:latin typeface="맑은 고딕"/>
              </a:rPr>
              <a:t>  담당자가 아침마다 포털 검색 → 요약 → 관련자 공유 (1~2시간)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5980176"/>
            <a:ext cx="91440" cy="91440"/>
          </a:xfrm>
          <a:prstGeom prst="ellipse">
            <a:avLst/>
          </a:prstGeom>
          <a:solidFill>
            <a:srgbClr val="163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916168"/>
            <a:ext cx="10618927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1B1F2A"/>
                </a:solidFill>
                <a:latin typeface="맑은 고딕"/>
              </a:rPr>
              <a:t>이 플랫폼이 하는 일</a:t>
            </a:r>
            <a:r>
              <a:rPr sz="1350" b="0">
                <a:solidFill>
                  <a:srgbClr val="5B6476"/>
                </a:solidFill>
                <a:latin typeface="맑은 고딕"/>
              </a:rPr>
              <a:t>  그 과정을 자동화하고, 중요한 건만 텔레그램으로 밀어 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382512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AA3B2"/>
                </a:solidFill>
                <a:latin typeface="맑은 고딕"/>
              </a:rPr>
              <a:t>P-FM NEWS · 포스코 그룹 뉴스 인텔리전스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36047" y="6382512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5B6476"/>
                </a:solidFill>
                <a:latin typeface="맑은 고딕"/>
              </a:rPr>
              <a:t>1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63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4B740"/>
                </a:solidFill>
                <a:latin typeface="맑은 고딕"/>
              </a:rPr>
              <a:t>02  한눈에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8749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0E2456"/>
                </a:solidFill>
                <a:latin typeface="맑은 고딕"/>
              </a:rPr>
              <a:t>기사가 여러분에게 오기까지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43584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B6476"/>
                </a:solidFill>
                <a:latin typeface="맑은 고딕"/>
              </a:rPr>
              <a:t>5분마다 자동으로 돕니다. 여러분은 마지막 두 칸만 보면 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645920"/>
            <a:ext cx="10874959" cy="9525"/>
          </a:xfrm>
          <a:prstGeom prst="rect">
            <a:avLst/>
          </a:prstGeom>
          <a:solidFill>
            <a:srgbClr val="C8D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2377440"/>
            <a:ext cx="1993392" cy="1554480"/>
          </a:xfrm>
          <a:prstGeom prst="roundRect">
            <a:avLst>
              <a:gd name="adj" fmla="val 8000"/>
            </a:avLst>
          </a:prstGeom>
          <a:solidFill>
            <a:srgbClr val="F7F8FB"/>
          </a:solidFill>
          <a:ln w="12700">
            <a:solidFill>
              <a:srgbClr val="C8D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596896"/>
            <a:ext cx="19933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0E2456"/>
                </a:solidFill>
                <a:latin typeface="맑은 고딕"/>
              </a:rPr>
              <a:t>1. 수집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3017520"/>
            <a:ext cx="177393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1000" b="0">
                <a:solidFill>
                  <a:srgbClr val="5B6476"/>
                </a:solidFill>
                <a:latin typeface="맑은 고딕"/>
              </a:rPr>
              <a:t>네이버·구글·RSS
키워드 검색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670048" y="3072384"/>
            <a:ext cx="237744" cy="201168"/>
          </a:xfrm>
          <a:prstGeom prst="rightArrow">
            <a:avLst/>
          </a:prstGeom>
          <a:solidFill>
            <a:srgbClr val="C8D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26080" y="2377440"/>
            <a:ext cx="1993392" cy="1554480"/>
          </a:xfrm>
          <a:prstGeom prst="roundRect">
            <a:avLst>
              <a:gd name="adj" fmla="val 8000"/>
            </a:avLst>
          </a:prstGeom>
          <a:solidFill>
            <a:srgbClr val="F7F8FB"/>
          </a:solidFill>
          <a:ln w="12700">
            <a:solidFill>
              <a:srgbClr val="C8D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2596896"/>
            <a:ext cx="19933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0E2456"/>
                </a:solidFill>
                <a:latin typeface="맑은 고딕"/>
              </a:rPr>
              <a:t>2. 걸러내기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35808" y="3017520"/>
            <a:ext cx="177393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1000" b="0">
                <a:solidFill>
                  <a:srgbClr val="5B6476"/>
                </a:solidFill>
                <a:latin typeface="맑은 고딕"/>
              </a:rPr>
              <a:t>관련성·중복 제거
중요도 점수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937760" y="3072384"/>
            <a:ext cx="237744" cy="201168"/>
          </a:xfrm>
          <a:prstGeom prst="rightArrow">
            <a:avLst/>
          </a:prstGeom>
          <a:solidFill>
            <a:srgbClr val="C8D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193792" y="2377440"/>
            <a:ext cx="1993392" cy="1554480"/>
          </a:xfrm>
          <a:prstGeom prst="roundRect">
            <a:avLst>
              <a:gd name="adj" fmla="val 8000"/>
            </a:avLst>
          </a:prstGeom>
          <a:solidFill>
            <a:srgbClr val="F7F8FB"/>
          </a:solidFill>
          <a:ln w="12700">
            <a:solidFill>
              <a:srgbClr val="C8D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93792" y="2596896"/>
            <a:ext cx="19933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0E2456"/>
                </a:solidFill>
                <a:latin typeface="맑은 고딕"/>
              </a:rPr>
              <a:t>3. AI 분석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3017520"/>
            <a:ext cx="177393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1000" b="0">
                <a:solidFill>
                  <a:srgbClr val="5B6476"/>
                </a:solidFill>
                <a:latin typeface="맑은 고딕"/>
              </a:rPr>
              <a:t>3~5문장 요약
포스코 관점 · SWOT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205472" y="3072384"/>
            <a:ext cx="237744" cy="201168"/>
          </a:xfrm>
          <a:prstGeom prst="rightArrow">
            <a:avLst/>
          </a:prstGeom>
          <a:solidFill>
            <a:srgbClr val="C8D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461504" y="2377440"/>
            <a:ext cx="1993392" cy="1554480"/>
          </a:xfrm>
          <a:prstGeom prst="roundRect">
            <a:avLst>
              <a:gd name="adj" fmla="val 8000"/>
            </a:avLst>
          </a:prstGeom>
          <a:solidFill>
            <a:srgbClr val="163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61504" y="2596896"/>
            <a:ext cx="19933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맑은 고딕"/>
              </a:rPr>
              <a:t>4. 웹 게시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71232" y="3017520"/>
            <a:ext cx="177393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1000" b="0">
                <a:solidFill>
                  <a:srgbClr val="C7D3EE"/>
                </a:solidFill>
                <a:latin typeface="맑은 고딕"/>
              </a:rPr>
              <a:t>포토카드로
전체 기사·대외협력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473184" y="3072384"/>
            <a:ext cx="237744" cy="201168"/>
          </a:xfrm>
          <a:prstGeom prst="rightArrow">
            <a:avLst/>
          </a:prstGeom>
          <a:solidFill>
            <a:srgbClr val="C8D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729216" y="2377440"/>
            <a:ext cx="1993392" cy="1554480"/>
          </a:xfrm>
          <a:prstGeom prst="roundRect">
            <a:avLst>
              <a:gd name="adj" fmla="val 8000"/>
            </a:avLst>
          </a:prstGeom>
          <a:solidFill>
            <a:srgbClr val="163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29216" y="2596896"/>
            <a:ext cx="19933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맑은 고딕"/>
              </a:rPr>
              <a:t>5. 알림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38944" y="3017520"/>
            <a:ext cx="177393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1000" b="0">
                <a:solidFill>
                  <a:srgbClr val="C7D3EE"/>
                </a:solidFill>
                <a:latin typeface="맑은 고딕"/>
              </a:rPr>
              <a:t>중요 기사만
텔레그램 채널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434840"/>
            <a:ext cx="10874959" cy="1417320"/>
          </a:xfrm>
          <a:prstGeom prst="roundRect">
            <a:avLst>
              <a:gd name="adj" fmla="val 6000"/>
            </a:avLst>
          </a:prstGeom>
          <a:solidFill>
            <a:srgbClr val="EA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" y="4645152"/>
            <a:ext cx="10253167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16337A"/>
                </a:solidFill>
                <a:latin typeface="맑은 고딕"/>
              </a:rPr>
              <a:t>여러분이 보는 것  </a:t>
            </a:r>
            <a:r>
              <a:rPr sz="1200" b="0">
                <a:solidFill>
                  <a:srgbClr val="1B1F2A"/>
                </a:solidFill>
                <a:latin typeface="맑은 고딕"/>
              </a:rPr>
              <a:t>① 웹 화면 — 전체 기사·대외협력·주간동향 (필터·검색·즐겨찾기)</a:t>
            </a:r>
          </a:p>
          <a:p>
            <a:pPr algn="l">
              <a:lnSpc>
                <a:spcPct val="135000"/>
              </a:lnSpc>
            </a:pPr>
            <a:r>
              <a:rPr sz="600" b="0">
                <a:solidFill>
                  <a:srgbClr val="1B1F2A"/>
                </a:solidFill>
                <a:latin typeface="맑은 고딕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250" b="1">
                <a:solidFill>
                  <a:srgbClr val="16337A"/>
                </a:solidFill>
                <a:latin typeface="맑은 고딕"/>
              </a:rPr>
              <a:t>                     </a:t>
            </a:r>
            <a:r>
              <a:rPr sz="1200" b="0">
                <a:solidFill>
                  <a:srgbClr val="1B1F2A"/>
                </a:solidFill>
                <a:latin typeface="맑은 고딕"/>
              </a:rPr>
              <a:t>② 텔레그램 채널 — 중요 기사가 요약·포스코 관점과 함께 실시간 도착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382512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AA3B2"/>
                </a:solidFill>
                <a:latin typeface="맑은 고딕"/>
              </a:rPr>
              <a:t>P-FM NEWS · 포스코 그룹 뉴스 인텔리전스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36047" y="6382512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5B6476"/>
                </a:solidFill>
                <a:latin typeface="맑은 고딕"/>
              </a:rPr>
              <a:t>2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63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4B740"/>
                </a:solidFill>
                <a:latin typeface="맑은 고딕"/>
              </a:rPr>
              <a:t>03  화면 둘러보기 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8749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0E2456"/>
                </a:solidFill>
                <a:latin typeface="맑은 고딕"/>
              </a:rPr>
              <a:t>전체 기사 — 포토카드 피드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43584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B6476"/>
                </a:solidFill>
                <a:latin typeface="맑은 고딕"/>
              </a:rPr>
              <a:t>수집·분석이 끝난 기사가 최신순으로. 필터로 원하는 것만 봅니다.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645920"/>
            <a:ext cx="10874959" cy="9525"/>
          </a:xfrm>
          <a:prstGeom prst="rect">
            <a:avLst/>
          </a:prstGeom>
          <a:solidFill>
            <a:srgbClr val="C8D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2011680"/>
            <a:ext cx="5394960" cy="1874519"/>
          </a:xfrm>
          <a:prstGeom prst="roundRect">
            <a:avLst>
              <a:gd name="adj" fmla="val 5500"/>
            </a:avLst>
          </a:prstGeom>
          <a:solidFill>
            <a:srgbClr val="F7F8FB"/>
          </a:solidFill>
          <a:ln w="12700">
            <a:solidFill>
              <a:srgbClr val="C8D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011680"/>
            <a:ext cx="64008" cy="1874519"/>
          </a:xfrm>
          <a:prstGeom prst="rect">
            <a:avLst/>
          </a:prstGeom>
          <a:solidFill>
            <a:srgbClr val="163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176272"/>
            <a:ext cx="4992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0E2456"/>
                </a:solidFill>
                <a:latin typeface="맑은 고딕"/>
              </a:rPr>
              <a:t>카드 하나에 담긴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578608"/>
            <a:ext cx="4992624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0">
                <a:solidFill>
                  <a:srgbClr val="5B6476"/>
                </a:solidFill>
                <a:latin typeface="맑은 고딕"/>
              </a:rPr>
              <a:t>· 제목 · 언론사 · 기자 · 발행시각 · 썸네일</a:t>
            </a:r>
          </a:p>
          <a:p>
            <a:pPr algn="l">
              <a:lnSpc>
                <a:spcPct val="132000"/>
              </a:lnSpc>
            </a:pPr>
            <a:r>
              <a:rPr sz="1100" b="0">
                <a:solidFill>
                  <a:srgbClr val="5B6476"/>
                </a:solidFill>
                <a:latin typeface="맑은 고딕"/>
              </a:rPr>
              <a:t>· AI 요약 3~5문장 (사실만, 재서술)</a:t>
            </a:r>
          </a:p>
          <a:p>
            <a:pPr algn="l">
              <a:lnSpc>
                <a:spcPct val="132000"/>
              </a:lnSpc>
            </a:pPr>
            <a:r>
              <a:rPr sz="1100" b="0">
                <a:solidFill>
                  <a:srgbClr val="5B6476"/>
                </a:solidFill>
                <a:latin typeface="맑은 고딕"/>
              </a:rPr>
              <a:t>· 포스코 관점 — 소재사업 시사점 1~2문장</a:t>
            </a:r>
          </a:p>
          <a:p>
            <a:pPr algn="l">
              <a:lnSpc>
                <a:spcPct val="132000"/>
              </a:lnSpc>
            </a:pPr>
            <a:r>
              <a:rPr sz="1100" b="0">
                <a:solidFill>
                  <a:srgbClr val="5B6476"/>
                </a:solidFill>
                <a:latin typeface="맑은 고딕"/>
              </a:rPr>
              <a:t>· SWOT 배지 (숫자 클릭 → S/W/O/T 근거)</a:t>
            </a:r>
          </a:p>
          <a:p>
            <a:pPr algn="l">
              <a:lnSpc>
                <a:spcPct val="132000"/>
              </a:lnSpc>
            </a:pPr>
            <a:r>
              <a:rPr sz="1100" b="0">
                <a:solidFill>
                  <a:srgbClr val="5B6476"/>
                </a:solidFill>
                <a:latin typeface="맑은 고딕"/>
              </a:rPr>
              <a:t>· 그룹사·카테고리·키워드 태그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27648" y="2011680"/>
            <a:ext cx="5394960" cy="1874519"/>
          </a:xfrm>
          <a:prstGeom prst="roundRect">
            <a:avLst>
              <a:gd name="adj" fmla="val 5500"/>
            </a:avLst>
          </a:prstGeom>
          <a:solidFill>
            <a:srgbClr val="F7F8FB"/>
          </a:solidFill>
          <a:ln w="12700">
            <a:solidFill>
              <a:srgbClr val="C8D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27648" y="2011680"/>
            <a:ext cx="64008" cy="1874519"/>
          </a:xfrm>
          <a:prstGeom prst="rect">
            <a:avLst/>
          </a:prstGeom>
          <a:solidFill>
            <a:srgbClr val="163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65392" y="2176272"/>
            <a:ext cx="4992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0E2456"/>
                </a:solidFill>
                <a:latin typeface="맑은 고딕"/>
              </a:rPr>
              <a:t>필터 (왼쪽 접이식)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2578608"/>
            <a:ext cx="4992624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0">
                <a:solidFill>
                  <a:srgbClr val="5B6476"/>
                </a:solidFill>
                <a:latin typeface="맑은 고딕"/>
              </a:rPr>
              <a:t>· 기간 — 오늘 / 7일 / 30일 / 전체</a:t>
            </a:r>
          </a:p>
          <a:p>
            <a:pPr algn="l">
              <a:lnSpc>
                <a:spcPct val="132000"/>
              </a:lnSpc>
            </a:pPr>
            <a:r>
              <a:rPr sz="1100" b="0">
                <a:solidFill>
                  <a:srgbClr val="5B6476"/>
                </a:solidFill>
                <a:latin typeface="맑은 고딕"/>
              </a:rPr>
              <a:t>· 정렬 — 최신순 / 중요도순</a:t>
            </a:r>
          </a:p>
          <a:p>
            <a:pPr algn="l">
              <a:lnSpc>
                <a:spcPct val="132000"/>
              </a:lnSpc>
            </a:pPr>
            <a:r>
              <a:rPr sz="1100" b="0">
                <a:solidFill>
                  <a:srgbClr val="5B6476"/>
                </a:solidFill>
                <a:latin typeface="맑은 고딕"/>
              </a:rPr>
              <a:t>· 그룹사 · 카테고리 · 언론사 (중복 선택)</a:t>
            </a:r>
          </a:p>
          <a:p>
            <a:pPr algn="l">
              <a:lnSpc>
                <a:spcPct val="132000"/>
              </a:lnSpc>
            </a:pPr>
            <a:r>
              <a:rPr sz="1100" b="0">
                <a:solidFill>
                  <a:srgbClr val="5B6476"/>
                </a:solidFill>
                <a:latin typeface="맑은 고딕"/>
              </a:rPr>
              <a:t>· 검색 — 제목·요약·기자·언론사</a:t>
            </a:r>
          </a:p>
          <a:p>
            <a:pPr algn="l">
              <a:lnSpc>
                <a:spcPct val="132000"/>
              </a:lnSpc>
            </a:pPr>
            <a:r>
              <a:rPr sz="1100" b="0">
                <a:solidFill>
                  <a:srgbClr val="5B6476"/>
                </a:solidFill>
                <a:latin typeface="맑은 고딕"/>
              </a:rPr>
              <a:t>· ★ 즐겨찾기 — 카드 우측 별표, 브라우저에 저장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206240"/>
            <a:ext cx="10874959" cy="1554480"/>
          </a:xfrm>
          <a:prstGeom prst="roundRect">
            <a:avLst>
              <a:gd name="adj" fmla="val 6000"/>
            </a:avLst>
          </a:prstGeom>
          <a:solidFill>
            <a:srgbClr val="EA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407408"/>
            <a:ext cx="1025316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1">
                <a:solidFill>
                  <a:srgbClr val="16337A"/>
                </a:solidFill>
                <a:latin typeface="맑은 고딕"/>
              </a:rPr>
              <a:t>팁  </a:t>
            </a:r>
            <a:r>
              <a:rPr sz="1200" b="0">
                <a:solidFill>
                  <a:srgbClr val="1B1F2A"/>
                </a:solidFill>
                <a:latin typeface="맑은 고딕"/>
              </a:rPr>
              <a:t>‘중요도순’ + 카테고리 ‘배터리·이차전지’ 로 두면 소재사업 핵심만 위로 올라옵니다.</a:t>
            </a:r>
          </a:p>
          <a:p>
            <a:pPr algn="l">
              <a:lnSpc>
                <a:spcPct val="140000"/>
              </a:lnSpc>
            </a:pPr>
            <a:r>
              <a:rPr sz="1250" b="1">
                <a:solidFill>
                  <a:srgbClr val="16337A"/>
                </a:solidFill>
                <a:latin typeface="맑은 고딕"/>
              </a:rPr>
              <a:t>팁  </a:t>
            </a:r>
            <a:r>
              <a:rPr sz="1200" b="0">
                <a:solidFill>
                  <a:srgbClr val="1B1F2A"/>
                </a:solidFill>
                <a:latin typeface="맑은 고딕"/>
              </a:rPr>
              <a:t>기사 URL 을 직접 넣어 카드로 만들 수 있습니다 (하단 ‘URL 로 포토카드 만들기’) — 슬라이드 10.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382512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AA3B2"/>
                </a:solidFill>
                <a:latin typeface="맑은 고딕"/>
              </a:rPr>
              <a:t>P-FM NEWS · 포스코 그룹 뉴스 인텔리전스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36047" y="6382512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5B6476"/>
                </a:solidFill>
                <a:latin typeface="맑은 고딕"/>
              </a:rPr>
              <a:t>3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63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4B740"/>
                </a:solidFill>
                <a:latin typeface="맑은 고딕"/>
              </a:rPr>
              <a:t>04  화면 둘러보기 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8749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0E2456"/>
                </a:solidFill>
                <a:latin typeface="맑은 고딕"/>
              </a:rPr>
              <a:t>대외협력 (/ea) — 대관·통상 모니터링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43584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B6476"/>
                </a:solidFill>
                <a:latin typeface="맑은 고딕"/>
              </a:rPr>
              <a:t>헤더 ‘🏛 대외협력’ 버튼. 뉴스 피드와 분리된 전용 화면입니다.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645920"/>
            <a:ext cx="10874959" cy="9525"/>
          </a:xfrm>
          <a:prstGeom prst="rect">
            <a:avLst/>
          </a:prstGeom>
          <a:solidFill>
            <a:srgbClr val="C8D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965960"/>
            <a:ext cx="10874959" cy="402336"/>
          </a:xfrm>
          <a:prstGeom prst="rect">
            <a:avLst/>
          </a:prstGeom>
          <a:solidFill>
            <a:srgbClr val="163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066544"/>
            <a:ext cx="208949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카테고리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58763" y="2066544"/>
            <a:ext cx="566038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무엇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02024" y="2066544"/>
            <a:ext cx="2576437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핵심 지표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368296"/>
            <a:ext cx="10874959" cy="402336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2761107"/>
            <a:ext cx="10874959" cy="9525"/>
          </a:xfrm>
          <a:prstGeom prst="rect">
            <a:avLst/>
          </a:prstGeom>
          <a:solidFill>
            <a:srgbClr val="C8D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2478024"/>
            <a:ext cx="208949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1F2A"/>
                </a:solidFill>
                <a:latin typeface="맑은 고딕"/>
              </a:rPr>
              <a:t>입법·행정예고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58763" y="2478024"/>
            <a:ext cx="566038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1F2A"/>
                </a:solidFill>
                <a:latin typeface="맑은 고딕"/>
              </a:rPr>
              <a:t>정부 입법·행정예고 (국민참여입법센터)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02024" y="2478024"/>
            <a:ext cx="2576437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C0392B"/>
                </a:solidFill>
                <a:latin typeface="맑은 고딕"/>
              </a:rPr>
              <a:t>의견제출 마감 D-day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163443"/>
            <a:ext cx="10874959" cy="9525"/>
          </a:xfrm>
          <a:prstGeom prst="rect">
            <a:avLst/>
          </a:prstGeom>
          <a:solidFill>
            <a:srgbClr val="C8D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2880360"/>
            <a:ext cx="208949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1F2A"/>
                </a:solidFill>
                <a:latin typeface="맑은 고딕"/>
              </a:rPr>
              <a:t>국회 의안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8763" y="2880360"/>
            <a:ext cx="566038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1F2A"/>
                </a:solidFill>
                <a:latin typeface="맑은 고딕"/>
              </a:rPr>
              <a:t>발의 법률안 (열린국회정보)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02024" y="2880360"/>
            <a:ext cx="2576437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1F2A"/>
                </a:solidFill>
                <a:latin typeface="맑은 고딕"/>
              </a:rPr>
              <a:t>소관 상임위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172968"/>
            <a:ext cx="10874959" cy="402336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565779"/>
            <a:ext cx="10874959" cy="9525"/>
          </a:xfrm>
          <a:prstGeom prst="rect">
            <a:avLst/>
          </a:prstGeom>
          <a:solidFill>
            <a:srgbClr val="C8D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3282696"/>
            <a:ext cx="208949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1F2A"/>
                </a:solidFill>
                <a:latin typeface="맑은 고딕"/>
              </a:rPr>
              <a:t>정책 동향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58763" y="3282696"/>
            <a:ext cx="566038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1F2A"/>
                </a:solidFill>
                <a:latin typeface="맑은 고딕"/>
              </a:rPr>
              <a:t>정부/정책 기사 (korea.kr 등)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02024" y="3282696"/>
            <a:ext cx="2576437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1F2A"/>
                </a:solidFill>
                <a:latin typeface="맑은 고딕"/>
              </a:rPr>
              <a:t>발표 부처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3968115"/>
            <a:ext cx="10874959" cy="9525"/>
          </a:xfrm>
          <a:prstGeom prst="rect">
            <a:avLst/>
          </a:prstGeom>
          <a:solidFill>
            <a:srgbClr val="C8D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" y="3685032"/>
            <a:ext cx="208949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1F2A"/>
                </a:solidFill>
                <a:latin typeface="맑은 고딕"/>
              </a:rPr>
              <a:t>통상 환경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58763" y="3685032"/>
            <a:ext cx="566038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1F2A"/>
                </a:solidFill>
                <a:latin typeface="맑은 고딕"/>
              </a:rPr>
              <a:t>KOTRA 해외시장뉴스 (반덤핑·CBAM·수출통제)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02024" y="3685032"/>
            <a:ext cx="2576437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C0392B"/>
                </a:solidFill>
                <a:latin typeface="맑은 고딕"/>
              </a:rPr>
              <a:t>영향도 high/med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3977640"/>
            <a:ext cx="10874959" cy="402336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4370451"/>
            <a:ext cx="10874959" cy="9525"/>
          </a:xfrm>
          <a:prstGeom prst="rect">
            <a:avLst/>
          </a:prstGeom>
          <a:solidFill>
            <a:srgbClr val="C8D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6384" y="4087368"/>
            <a:ext cx="208949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1F2A"/>
                </a:solidFill>
                <a:latin typeface="맑은 고딕"/>
              </a:rPr>
              <a:t>부처별 동향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58763" y="4087368"/>
            <a:ext cx="566038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1F2A"/>
                </a:solidFill>
                <a:latin typeface="맑은 고딕"/>
              </a:rPr>
              <a:t>부처 정책뉴스 (산업통상부 등)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02024" y="4087368"/>
            <a:ext cx="2576437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1F2A"/>
                </a:solidFill>
                <a:latin typeface="맑은 고딕"/>
              </a:rPr>
              <a:t>부처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4800600"/>
            <a:ext cx="10874959" cy="1005840"/>
          </a:xfrm>
          <a:prstGeom prst="roundRect">
            <a:avLst>
              <a:gd name="adj" fmla="val 6000"/>
            </a:avLst>
          </a:prstGeom>
          <a:solidFill>
            <a:srgbClr val="EA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9264" y="4974336"/>
            <a:ext cx="1025316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1">
                <a:solidFill>
                  <a:srgbClr val="16337A"/>
                </a:solidFill>
                <a:latin typeface="맑은 고딕"/>
              </a:rPr>
              <a:t>필터  </a:t>
            </a:r>
            <a:r>
              <a:rPr sz="1150" b="0">
                <a:solidFill>
                  <a:srgbClr val="1B1F2A"/>
                </a:solidFill>
                <a:latin typeface="맑은 고딕"/>
              </a:rPr>
              <a:t>카테고리 · 기관(부처·상임위·KOTRA) · 영향도 · 포스코 그룹사 · 정렬(마감임박/최신/영향도).  </a:t>
            </a:r>
          </a:p>
          <a:p>
            <a:pPr algn="l">
              <a:lnSpc>
                <a:spcPct val="140000"/>
              </a:lnSpc>
            </a:pPr>
            <a:r>
              <a:rPr sz="1250" b="1">
                <a:solidFill>
                  <a:srgbClr val="16337A"/>
                </a:solidFill>
                <a:latin typeface="맑은 고딕"/>
              </a:rPr>
              <a:t>            </a:t>
            </a:r>
            <a:r>
              <a:rPr sz="1150" b="0">
                <a:solidFill>
                  <a:srgbClr val="1B1F2A"/>
                </a:solidFill>
                <a:latin typeface="맑은 고딕"/>
              </a:rPr>
              <a:t>입법·행정예고는 마감 D-7 이내면 상단에 빨간 배너로 뜹니다.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82512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AA3B2"/>
                </a:solidFill>
                <a:latin typeface="맑은 고딕"/>
              </a:rPr>
              <a:t>P-FM NEWS · 포스코 그룹 뉴스 인텔리전스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36047" y="6382512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5B6476"/>
                </a:solidFill>
                <a:latin typeface="맑은 고딕"/>
              </a:rPr>
              <a:t>4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63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4B740"/>
                </a:solidFill>
                <a:latin typeface="맑은 고딕"/>
              </a:rPr>
              <a:t>05  화면 둘러보기 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8749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0E2456"/>
                </a:solidFill>
                <a:latin typeface="맑은 고딕"/>
              </a:rPr>
              <a:t>주간동향 · 즐겨찾기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43584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B6476"/>
                </a:solidFill>
                <a:latin typeface="맑은 고딕"/>
              </a:rPr>
              <a:t>매주 정리된 요약과, 내가 따로 모아 둔 기사.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645920"/>
            <a:ext cx="10874959" cy="9525"/>
          </a:xfrm>
          <a:prstGeom prst="rect">
            <a:avLst/>
          </a:prstGeom>
          <a:solidFill>
            <a:srgbClr val="C8D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2011680"/>
            <a:ext cx="5394960" cy="2743200"/>
          </a:xfrm>
          <a:prstGeom prst="roundRect">
            <a:avLst>
              <a:gd name="adj" fmla="val 5500"/>
            </a:avLst>
          </a:prstGeom>
          <a:solidFill>
            <a:srgbClr val="F7F8FB"/>
          </a:solidFill>
          <a:ln w="12700">
            <a:solidFill>
              <a:srgbClr val="C8D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011680"/>
            <a:ext cx="64008" cy="2743200"/>
          </a:xfrm>
          <a:prstGeom prst="rect">
            <a:avLst/>
          </a:prstGeom>
          <a:solidFill>
            <a:srgbClr val="F4B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176272"/>
            <a:ext cx="4992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0E2456"/>
                </a:solidFill>
                <a:latin typeface="맑은 고딕"/>
              </a:rPr>
              <a:t>📈 주간동향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578608"/>
            <a:ext cx="4992624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0">
                <a:solidFill>
                  <a:srgbClr val="5B6476"/>
                </a:solidFill>
                <a:latin typeface="맑은 고딕"/>
              </a:rPr>
              <a:t>· 월요일 아침 자동 생성 (이메일로도 발송)</a:t>
            </a:r>
          </a:p>
          <a:p>
            <a:pPr algn="l">
              <a:lnSpc>
                <a:spcPct val="132000"/>
              </a:lnSpc>
            </a:pPr>
            <a:r>
              <a:rPr sz="1100" b="0">
                <a:solidFill>
                  <a:srgbClr val="5B6476"/>
                </a:solidFill>
                <a:latin typeface="맑은 고딕"/>
              </a:rPr>
              <a:t>· 한 주치 기사를 계열사·주제별로 묶음</a:t>
            </a:r>
          </a:p>
          <a:p>
            <a:pPr algn="l">
              <a:lnSpc>
                <a:spcPct val="132000"/>
              </a:lnSpc>
            </a:pPr>
            <a:r>
              <a:rPr sz="1100" b="0">
                <a:solidFill>
                  <a:srgbClr val="5B6476"/>
                </a:solidFill>
                <a:latin typeface="맑은 고딕"/>
              </a:rPr>
              <a:t>· 계열사별 주간 종합 SWOT (LLM 합성)</a:t>
            </a:r>
          </a:p>
          <a:p>
            <a:pPr algn="l">
              <a:lnSpc>
                <a:spcPct val="132000"/>
              </a:lnSpc>
            </a:pPr>
            <a:r>
              <a:rPr sz="1100" b="0">
                <a:solidFill>
                  <a:srgbClr val="5B6476"/>
                </a:solidFill>
                <a:latin typeface="맑은 고딕"/>
              </a:rPr>
              <a:t>· 정부/정책 · 글로벌 통상환경 영향 분석</a:t>
            </a:r>
          </a:p>
          <a:p>
            <a:pPr algn="l">
              <a:lnSpc>
                <a:spcPct val="132000"/>
              </a:lnSpc>
            </a:pPr>
            <a:r>
              <a:rPr sz="1100" b="0">
                <a:solidFill>
                  <a:srgbClr val="5B6476"/>
                </a:solidFill>
                <a:latin typeface="맑은 고딕"/>
              </a:rPr>
              <a:t>· 지난 레포트도 드롭다운에서 다시 조회</a:t>
            </a:r>
          </a:p>
          <a:p>
            <a:pPr algn="l">
              <a:lnSpc>
                <a:spcPct val="132000"/>
              </a:lnSpc>
            </a:pPr>
            <a:r>
              <a:rPr sz="1100" b="0">
                <a:solidFill>
                  <a:srgbClr val="5B6476"/>
                </a:solidFill>
                <a:latin typeface="맑은 고딕"/>
              </a:rPr>
              <a:t>· 수신자는 마스터 패널에서 추가 (슬라이드 9)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27648" y="2011680"/>
            <a:ext cx="5394960" cy="2743200"/>
          </a:xfrm>
          <a:prstGeom prst="roundRect">
            <a:avLst>
              <a:gd name="adj" fmla="val 5500"/>
            </a:avLst>
          </a:prstGeom>
          <a:solidFill>
            <a:srgbClr val="F7F8FB"/>
          </a:solidFill>
          <a:ln w="12700">
            <a:solidFill>
              <a:srgbClr val="C8D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27648" y="2011680"/>
            <a:ext cx="64008" cy="2743200"/>
          </a:xfrm>
          <a:prstGeom prst="rect">
            <a:avLst/>
          </a:prstGeom>
          <a:solidFill>
            <a:srgbClr val="163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65392" y="2176272"/>
            <a:ext cx="4992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0E2456"/>
                </a:solidFill>
                <a:latin typeface="맑은 고딕"/>
              </a:rPr>
              <a:t>★ 즐겨찾기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2578608"/>
            <a:ext cx="4992624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0">
                <a:solidFill>
                  <a:srgbClr val="5B6476"/>
                </a:solidFill>
                <a:latin typeface="맑은 고딕"/>
              </a:rPr>
              <a:t>· 카드 우측 상단 별표를 누르면 저장</a:t>
            </a:r>
          </a:p>
          <a:p>
            <a:pPr algn="l">
              <a:lnSpc>
                <a:spcPct val="132000"/>
              </a:lnSpc>
            </a:pPr>
            <a:r>
              <a:rPr sz="1100" b="0">
                <a:solidFill>
                  <a:srgbClr val="5B6476"/>
                </a:solidFill>
                <a:latin typeface="맑은 고딕"/>
              </a:rPr>
              <a:t>· 헤더 ‘★ 즐겨찾기’ 로 모아 보기</a:t>
            </a:r>
          </a:p>
          <a:p>
            <a:pPr algn="l">
              <a:lnSpc>
                <a:spcPct val="132000"/>
              </a:lnSpc>
            </a:pPr>
            <a:r>
              <a:rPr sz="1100" b="0">
                <a:solidFill>
                  <a:srgbClr val="5B6476"/>
                </a:solidFill>
                <a:latin typeface="맑은 고딕"/>
              </a:rPr>
              <a:t>· 브라우저(기기)별로 저장 — 로그인 불필요</a:t>
            </a:r>
          </a:p>
          <a:p>
            <a:pPr algn="l">
              <a:lnSpc>
                <a:spcPct val="132000"/>
              </a:lnSpc>
            </a:pPr>
            <a:r>
              <a:rPr sz="1100" b="0">
                <a:solidFill>
                  <a:srgbClr val="5B6476"/>
                </a:solidFill>
                <a:latin typeface="맑은 고딕"/>
              </a:rPr>
              <a:t>· 회의·보고 준비용 스크랩북으로 활용</a:t>
            </a:r>
          </a:p>
          <a:p>
            <a:pPr algn="l">
              <a:lnSpc>
                <a:spcPct val="132000"/>
              </a:lnSpc>
            </a:pPr>
            <a:r>
              <a:rPr sz="1100" b="0">
                <a:solidFill>
                  <a:srgbClr val="5B6476"/>
                </a:solidFill>
                <a:latin typeface="맑은 고딕"/>
              </a:rPr>
              <a:t>· 별표 해제하면 즐겨찾기 화면에서 바로 사라짐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382512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AA3B2"/>
                </a:solidFill>
                <a:latin typeface="맑은 고딕"/>
              </a:rPr>
              <a:t>P-FM NEWS · 포스코 그룹 뉴스 인텔리전스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36047" y="6382512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5B6476"/>
                </a:solidFill>
                <a:latin typeface="맑은 고딕"/>
              </a:rPr>
              <a:t>5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63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4B740"/>
                </a:solidFill>
                <a:latin typeface="맑은 고딕"/>
              </a:rPr>
              <a:t>06  텔레그램 알림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8749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0E2456"/>
                </a:solidFill>
                <a:latin typeface="맑은 고딕"/>
              </a:rPr>
              <a:t>무엇이, 언제 오나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43584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B6476"/>
                </a:solidFill>
                <a:latin typeface="맑은 고딕"/>
              </a:rPr>
              <a:t>채널 초대 링크는 헤더 ‘✈ Telegram 채널’. 봇이 개별 카드로 보냅니다.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645920"/>
            <a:ext cx="10874959" cy="9525"/>
          </a:xfrm>
          <a:prstGeom prst="rect">
            <a:avLst/>
          </a:prstGeom>
          <a:solidFill>
            <a:srgbClr val="C8D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58368" y="2029968"/>
            <a:ext cx="91440" cy="91440"/>
          </a:xfrm>
          <a:prstGeom prst="ellipse">
            <a:avLst/>
          </a:prstGeom>
          <a:solidFill>
            <a:srgbClr val="163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10618927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1B1F2A"/>
                </a:solidFill>
                <a:latin typeface="맑은 고딕"/>
              </a:rPr>
              <a:t>오는 기사</a:t>
            </a:r>
            <a:r>
              <a:rPr sz="1350" b="0">
                <a:solidFill>
                  <a:srgbClr val="5B6476"/>
                </a:solidFill>
                <a:latin typeface="맑은 고딕"/>
              </a:rPr>
              <a:t>  중요도 ‘임계값(기본 50)’ 이상 + 관련성 통과 + 발행 6시간 이내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615184"/>
            <a:ext cx="91440" cy="91440"/>
          </a:xfrm>
          <a:prstGeom prst="ellipse">
            <a:avLst/>
          </a:prstGeom>
          <a:solidFill>
            <a:srgbClr val="163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551176"/>
            <a:ext cx="10618927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1B1F2A"/>
                </a:solidFill>
                <a:latin typeface="맑은 고딕"/>
              </a:rPr>
              <a:t>한 건씩 개별 카드</a:t>
            </a:r>
            <a:r>
              <a:rPr sz="1350" b="0">
                <a:solidFill>
                  <a:srgbClr val="5B6476"/>
                </a:solidFill>
                <a:latin typeface="맑은 고딕"/>
              </a:rPr>
              <a:t>  제목·언론사·요약·포스코 관점·점수·태그 — 묶음(다이제스트) 없음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200400"/>
            <a:ext cx="91440" cy="91440"/>
          </a:xfrm>
          <a:prstGeom prst="ellipse">
            <a:avLst/>
          </a:prstGeom>
          <a:solidFill>
            <a:srgbClr val="163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136392"/>
            <a:ext cx="10618927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1B1F2A"/>
                </a:solidFill>
                <a:latin typeface="맑은 고딕"/>
              </a:rPr>
              <a:t>야간 규칙</a:t>
            </a:r>
            <a:r>
              <a:rPr sz="1350" b="0">
                <a:solidFill>
                  <a:srgbClr val="5B6476"/>
                </a:solidFill>
                <a:latin typeface="맑은 고딕"/>
              </a:rPr>
              <a:t>  밤 11시~오전 7시엔 80점 이상 또는 예외 규칙 건만 즉시, 나머지는 아침에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785616"/>
            <a:ext cx="91440" cy="91440"/>
          </a:xfrm>
          <a:prstGeom prst="ellipse">
            <a:avLst/>
          </a:prstGeom>
          <a:solidFill>
            <a:srgbClr val="163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721608"/>
            <a:ext cx="10618927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1B1F2A"/>
                </a:solidFill>
                <a:latin typeface="맑은 고딕"/>
              </a:rPr>
              <a:t>중복은 자동 제거</a:t>
            </a:r>
            <a:r>
              <a:rPr sz="1350" b="0">
                <a:solidFill>
                  <a:srgbClr val="5B6476"/>
                </a:solidFill>
                <a:latin typeface="맑은 고딕"/>
              </a:rPr>
              <a:t>  같은 사건을 여러 매체가 쓰면 대표 1건만, 더 권위 있는 매체로 승격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663440"/>
            <a:ext cx="10874959" cy="1143000"/>
          </a:xfrm>
          <a:prstGeom prst="roundRect">
            <a:avLst>
              <a:gd name="adj" fmla="val 6000"/>
            </a:avLst>
          </a:prstGeom>
          <a:solidFill>
            <a:srgbClr val="EA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864608"/>
            <a:ext cx="1025316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16337A"/>
                </a:solidFill>
                <a:latin typeface="맑은 고딕"/>
              </a:rPr>
              <a:t>직접 등록한 기사  </a:t>
            </a:r>
            <a:r>
              <a:rPr sz="1150" b="0">
                <a:solidFill>
                  <a:srgbClr val="1B1F2A"/>
                </a:solidFill>
                <a:latin typeface="맑은 고딕"/>
              </a:rPr>
              <a:t>URL 로 만든 카드가 임계값을 넘으면 채널에도 발송됩니다 (사람이 고른 것이라 야간·억제 무시).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16337A"/>
                </a:solidFill>
                <a:latin typeface="맑은 고딕"/>
              </a:rPr>
              <a:t>발송이 멈췄다면  </a:t>
            </a:r>
            <a:r>
              <a:rPr sz="1150" b="0">
                <a:solidFill>
                  <a:srgbClr val="1B1F2A"/>
                </a:solidFill>
                <a:latin typeface="맑은 고딕"/>
              </a:rPr>
              <a:t>마스터 패널 ‘텔레그램 알림 사용’ 스위치 또는 봇 /stop 상태를 확인하세요.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382512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AA3B2"/>
                </a:solidFill>
                <a:latin typeface="맑은 고딕"/>
              </a:rPr>
              <a:t>P-FM NEWS · 포스코 그룹 뉴스 인텔리전스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36047" y="6382512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5B6476"/>
                </a:solidFill>
                <a:latin typeface="맑은 고딕"/>
              </a:rPr>
              <a:t>6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63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4B740"/>
                </a:solidFill>
                <a:latin typeface="맑은 고딕"/>
              </a:rPr>
              <a:t>07  중요도 점수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8749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0E2456"/>
                </a:solidFill>
                <a:latin typeface="맑은 고딕"/>
              </a:rPr>
              <a:t>0~100점, 규칙으로 매깁니다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43584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B6476"/>
                </a:solidFill>
                <a:latin typeface="맑은 고딕"/>
              </a:rPr>
              <a:t>제목·본문·언론사를 규칙으로 채점. 임계값·정렬·야간 규칙의 기준입니다.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645920"/>
            <a:ext cx="10874959" cy="9525"/>
          </a:xfrm>
          <a:prstGeom prst="rect">
            <a:avLst/>
          </a:prstGeom>
          <a:solidFill>
            <a:srgbClr val="C8D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938528"/>
            <a:ext cx="10874959" cy="384048"/>
          </a:xfrm>
          <a:prstGeom prst="rect">
            <a:avLst/>
          </a:prstGeom>
          <a:solidFill>
            <a:srgbClr val="163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039112"/>
            <a:ext cx="844803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무엇이 있으면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7303" y="2039112"/>
            <a:ext cx="206115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점수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322576"/>
            <a:ext cx="10874959" cy="384048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2697099"/>
            <a:ext cx="10874959" cy="9525"/>
          </a:xfrm>
          <a:prstGeom prst="rect">
            <a:avLst/>
          </a:prstGeom>
          <a:solidFill>
            <a:srgbClr val="C8D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432304"/>
            <a:ext cx="844803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1F2A"/>
                </a:solidFill>
                <a:latin typeface="맑은 고딕"/>
              </a:rPr>
              <a:t>포스코퓨처엠이 제목에 / 본문에만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7303" y="2432304"/>
            <a:ext cx="206115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6337A"/>
                </a:solidFill>
                <a:latin typeface="맑은 고딕"/>
              </a:rPr>
              <a:t>+50 / +40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3081147"/>
            <a:ext cx="10874959" cy="9525"/>
          </a:xfrm>
          <a:prstGeom prst="rect">
            <a:avLst/>
          </a:prstGeom>
          <a:solidFill>
            <a:srgbClr val="C8D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2816352"/>
            <a:ext cx="844803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1F2A"/>
                </a:solidFill>
                <a:latin typeface="맑은 고딕"/>
              </a:rPr>
              <a:t>다른 계열사(홀딩스·DX·인터내셔널·이앤씨 등)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7303" y="2816352"/>
            <a:ext cx="206115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6337A"/>
                </a:solidFill>
                <a:latin typeface="맑은 고딕"/>
              </a:rPr>
              <a:t>+25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090672"/>
            <a:ext cx="10874959" cy="384048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465195"/>
            <a:ext cx="10874959" cy="9525"/>
          </a:xfrm>
          <a:prstGeom prst="rect">
            <a:avLst/>
          </a:prstGeom>
          <a:solidFill>
            <a:srgbClr val="C8D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" y="3200400"/>
            <a:ext cx="844803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1F2A"/>
                </a:solidFill>
                <a:latin typeface="맑은 고딕"/>
              </a:rPr>
              <a:t>배터리 생태계(소재·셀·전기차·ESS·원료) 제목에 / 본문에만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7303" y="3200400"/>
            <a:ext cx="206115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6337A"/>
                </a:solidFill>
                <a:latin typeface="맑은 고딕"/>
              </a:rPr>
              <a:t>+25 / +12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849243"/>
            <a:ext cx="10874959" cy="9525"/>
          </a:xfrm>
          <a:prstGeom prst="rect">
            <a:avLst/>
          </a:prstGeom>
          <a:solidFill>
            <a:srgbClr val="C8D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3584448"/>
            <a:ext cx="844803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1F2A"/>
                </a:solidFill>
                <a:latin typeface="맑은 고딕"/>
              </a:rPr>
              <a:t>해외 통상 조치(IRA·CBAM·반덤핑 등) 신호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7303" y="3584448"/>
            <a:ext cx="206115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6337A"/>
                </a:solidFill>
                <a:latin typeface="맑은 고딕"/>
              </a:rPr>
              <a:t>+15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858768"/>
            <a:ext cx="10874959" cy="384048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" y="4233291"/>
            <a:ext cx="10874959" cy="9525"/>
          </a:xfrm>
          <a:prstGeom prst="rect">
            <a:avLst/>
          </a:prstGeom>
          <a:solidFill>
            <a:srgbClr val="C8D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" y="3968496"/>
            <a:ext cx="844803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1F2A"/>
                </a:solidFill>
                <a:latin typeface="맑은 고딕"/>
              </a:rPr>
              <a:t>정책 키워드(전기요금·배출권·특화단지 등)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7303" y="3968496"/>
            <a:ext cx="206115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6337A"/>
                </a:solidFill>
                <a:latin typeface="맑은 고딕"/>
              </a:rPr>
              <a:t>+20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617339"/>
            <a:ext cx="10874959" cy="9525"/>
          </a:xfrm>
          <a:prstGeom prst="rect">
            <a:avLst/>
          </a:prstGeom>
          <a:solidFill>
            <a:srgbClr val="C8D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6384" y="4352544"/>
            <a:ext cx="844803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1F2A"/>
                </a:solidFill>
                <a:latin typeface="맑은 고딕"/>
              </a:rPr>
              <a:t>주요 언론사(연합·전자신문·머니투데이 등)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7303" y="4352544"/>
            <a:ext cx="206115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6337A"/>
                </a:solidFill>
                <a:latin typeface="맑은 고딕"/>
              </a:rPr>
              <a:t>+10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4626864"/>
            <a:ext cx="10874959" cy="384048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58368" y="5001387"/>
            <a:ext cx="10874959" cy="9525"/>
          </a:xfrm>
          <a:prstGeom prst="rect">
            <a:avLst/>
          </a:prstGeom>
          <a:solidFill>
            <a:srgbClr val="C8D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6384" y="4736592"/>
            <a:ext cx="844803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1F2A"/>
                </a:solidFill>
                <a:latin typeface="맑은 고딕"/>
              </a:rPr>
              <a:t>단순 시황·주가 기사(목표주가·코스피·투자의견)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7303" y="4736592"/>
            <a:ext cx="206115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C0392B"/>
                </a:solidFill>
                <a:latin typeface="맑은 고딕"/>
              </a:rPr>
              <a:t>−15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303520"/>
            <a:ext cx="10874959" cy="566928"/>
          </a:xfrm>
          <a:prstGeom prst="roundRect">
            <a:avLst>
              <a:gd name="adj" fmla="val 6000"/>
            </a:avLst>
          </a:prstGeom>
          <a:solidFill>
            <a:srgbClr val="EA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0976" y="5440680"/>
            <a:ext cx="1028974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6337A"/>
                </a:solidFill>
                <a:latin typeface="맑은 고딕"/>
              </a:rPr>
              <a:t>예)  </a:t>
            </a:r>
            <a:r>
              <a:rPr sz="1150" b="0">
                <a:solidFill>
                  <a:srgbClr val="1B1F2A"/>
                </a:solidFill>
                <a:latin typeface="맑은 고딕"/>
              </a:rPr>
              <a:t>“포스코퓨처엠 양극재 3만톤 증설”(조선일보) = 50 + 10 = 60점  ·  임계값 50이면 → 알림 발송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82512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AA3B2"/>
                </a:solidFill>
                <a:latin typeface="맑은 고딕"/>
              </a:rPr>
              <a:t>P-FM NEWS · 포스코 그룹 뉴스 인텔리전스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36047" y="6382512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5B6476"/>
                </a:solidFill>
                <a:latin typeface="맑은 고딕"/>
              </a:rPr>
              <a:t>7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63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4B740"/>
                </a:solidFill>
                <a:latin typeface="맑은 고딕"/>
              </a:rPr>
              <a:t>08  마스터 설정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8749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0E2456"/>
                </a:solidFill>
                <a:latin typeface="맑은 고딕"/>
              </a:rPr>
              <a:t>내가 원하는 알림만 받기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43584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B6476"/>
                </a:solidFill>
                <a:latin typeface="맑은 고딕"/>
              </a:rPr>
              <a:t>헤더 ‘🔒 마스터’ + 비밀번호. 설정은 전 사용자 공통으로 적용됩니다.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645920"/>
            <a:ext cx="10874959" cy="9525"/>
          </a:xfrm>
          <a:prstGeom prst="rect">
            <a:avLst/>
          </a:prstGeom>
          <a:solidFill>
            <a:srgbClr val="C8D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938528"/>
            <a:ext cx="10874959" cy="384048"/>
          </a:xfrm>
          <a:prstGeom prst="rect">
            <a:avLst/>
          </a:prstGeom>
          <a:solidFill>
            <a:srgbClr val="163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039112"/>
            <a:ext cx="58296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단계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2226" y="2039112"/>
            <a:ext cx="471850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설정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3615" y="2039112"/>
            <a:ext cx="502484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이렇게 쓰세요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322576"/>
            <a:ext cx="10874959" cy="384048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2697099"/>
            <a:ext cx="10874959" cy="9525"/>
          </a:xfrm>
          <a:prstGeom prst="rect">
            <a:avLst/>
          </a:prstGeom>
          <a:solidFill>
            <a:srgbClr val="C8D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2432304"/>
            <a:ext cx="58296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1F2A"/>
                </a:solidFill>
                <a:latin typeface="맑은 고딕"/>
              </a:rPr>
              <a:t>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2226" y="2432304"/>
            <a:ext cx="471850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1F2A"/>
                </a:solidFill>
                <a:latin typeface="맑은 고딕"/>
              </a:rPr>
              <a:t>텔레그램 알림 사용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3615" y="2432304"/>
            <a:ext cx="502484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1F2A"/>
                </a:solidFill>
                <a:latin typeface="맑은 고딕"/>
              </a:rPr>
              <a:t>전체 ON/OFF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081147"/>
            <a:ext cx="10874959" cy="9525"/>
          </a:xfrm>
          <a:prstGeom prst="rect">
            <a:avLst/>
          </a:prstGeom>
          <a:solidFill>
            <a:srgbClr val="C8D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2816352"/>
            <a:ext cx="58296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1F2A"/>
                </a:solidFill>
                <a:latin typeface="맑은 고딕"/>
              </a:rPr>
              <a:t>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2226" y="2816352"/>
            <a:ext cx="471850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1F2A"/>
                </a:solidFill>
                <a:latin typeface="맑은 고딕"/>
              </a:rPr>
              <a:t>중요도 임계값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3615" y="2816352"/>
            <a:ext cx="502484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1F2A"/>
                </a:solidFill>
                <a:latin typeface="맑은 고딕"/>
              </a:rPr>
              <a:t>낮추면 많이 · 올리면 핵심만 (권장 40+)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090672"/>
            <a:ext cx="10874959" cy="384048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465195"/>
            <a:ext cx="10874959" cy="9525"/>
          </a:xfrm>
          <a:prstGeom prst="rect">
            <a:avLst/>
          </a:prstGeom>
          <a:solidFill>
            <a:srgbClr val="C8D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3200400"/>
            <a:ext cx="58296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1F2A"/>
                </a:solidFill>
                <a:latin typeface="맑은 고딕"/>
              </a:rPr>
              <a:t>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2226" y="3200400"/>
            <a:ext cx="471850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1F2A"/>
                </a:solidFill>
                <a:latin typeface="맑은 고딕"/>
              </a:rPr>
              <a:t>무조건 발송 점수 / 항상 발송 키워드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3615" y="3200400"/>
            <a:ext cx="502484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1F2A"/>
                </a:solidFill>
                <a:latin typeface="맑은 고딕"/>
              </a:rPr>
              <a:t>이건 밤에도·점수 무관하게 꼭 받겠다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3849243"/>
            <a:ext cx="10874959" cy="9525"/>
          </a:xfrm>
          <a:prstGeom prst="rect">
            <a:avLst/>
          </a:prstGeom>
          <a:solidFill>
            <a:srgbClr val="C8D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" y="3584448"/>
            <a:ext cx="58296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1F2A"/>
                </a:solidFill>
                <a:latin typeface="맑은 고딕"/>
              </a:rPr>
              <a:t>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2226" y="3584448"/>
            <a:ext cx="471850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1F2A"/>
                </a:solidFill>
                <a:latin typeface="맑은 고딕"/>
              </a:rPr>
              <a:t>정책브리핑 · 통상환경 켜기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53615" y="3584448"/>
            <a:ext cx="502484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1F2A"/>
                </a:solidFill>
                <a:latin typeface="맑은 고딕"/>
              </a:rPr>
              <a:t>2단 키워드로 관심 주제만 골라 받기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3858768"/>
            <a:ext cx="10874959" cy="384048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4233291"/>
            <a:ext cx="10874959" cy="9525"/>
          </a:xfrm>
          <a:prstGeom prst="rect">
            <a:avLst/>
          </a:prstGeom>
          <a:solidFill>
            <a:srgbClr val="C8D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6384" y="3968496"/>
            <a:ext cx="58296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1F2A"/>
                </a:solidFill>
                <a:latin typeface="맑은 고딕"/>
              </a:rPr>
              <a:t>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52226" y="3968496"/>
            <a:ext cx="471850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1F2A"/>
                </a:solidFill>
                <a:latin typeface="맑은 고딕"/>
              </a:rPr>
              <a:t>주간 레포트 수신자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53615" y="3968496"/>
            <a:ext cx="502484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1F2A"/>
                </a:solidFill>
                <a:latin typeface="맑은 고딕"/>
              </a:rPr>
              <a:t>이메일 추가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4617339"/>
            <a:ext cx="10874959" cy="9525"/>
          </a:xfrm>
          <a:prstGeom prst="rect">
            <a:avLst/>
          </a:prstGeom>
          <a:solidFill>
            <a:srgbClr val="C8D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" y="4352544"/>
            <a:ext cx="58296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1F2A"/>
                </a:solidFill>
                <a:latin typeface="맑은 고딕"/>
              </a:rPr>
              <a:t>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52226" y="4352544"/>
            <a:ext cx="471850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1F2A"/>
                </a:solidFill>
                <a:latin typeface="맑은 고딕"/>
              </a:rPr>
              <a:t>비밀번호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53615" y="4352544"/>
            <a:ext cx="502484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1F2A"/>
                </a:solidFill>
                <a:latin typeface="맑은 고딕"/>
              </a:rPr>
              <a:t>운영자만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983480"/>
            <a:ext cx="10874959" cy="868680"/>
          </a:xfrm>
          <a:prstGeom prst="roundRect">
            <a:avLst>
              <a:gd name="adj" fmla="val 6000"/>
            </a:avLst>
          </a:prstGeom>
          <a:solidFill>
            <a:srgbClr val="EA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50976" y="5138928"/>
            <a:ext cx="1028974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16337A"/>
                </a:solidFill>
                <a:latin typeface="맑은 고딕"/>
              </a:rPr>
              <a:t>2단 키워드 예)  </a:t>
            </a:r>
            <a:r>
              <a:rPr sz="1150" b="0">
                <a:solidFill>
                  <a:srgbClr val="1B1F2A"/>
                </a:solidFill>
                <a:latin typeface="맑은 고딕"/>
              </a:rPr>
              <a:t>① ‘전기요금’ + ② ‘산업’  →  “산업용 전기요금” 은 발송, “가정용 전기요금” 은 제외.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82512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AA3B2"/>
                </a:solidFill>
                <a:latin typeface="맑은 고딕"/>
              </a:rPr>
              <a:t>P-FM NEWS · 포스코 그룹 뉴스 인텔리전스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36047" y="6382512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5B6476"/>
                </a:solidFill>
                <a:latin typeface="맑은 고딕"/>
              </a:rPr>
              <a:t>8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63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4B740"/>
                </a:solidFill>
                <a:latin typeface="맑은 고딕"/>
              </a:rPr>
              <a:t>09  직접 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8749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0E2456"/>
                </a:solidFill>
                <a:latin typeface="맑은 고딕"/>
              </a:rPr>
              <a:t>빠진 기사를 직접 등록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43584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B6476"/>
                </a:solidFill>
                <a:latin typeface="맑은 고딕"/>
              </a:rPr>
              <a:t>수집기가 놓친 기사를 두 가지 방법으로 카드로 만듭니다.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645920"/>
            <a:ext cx="10874959" cy="9525"/>
          </a:xfrm>
          <a:prstGeom prst="rect">
            <a:avLst/>
          </a:prstGeom>
          <a:solidFill>
            <a:srgbClr val="C8D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2011680"/>
            <a:ext cx="5394960" cy="2377440"/>
          </a:xfrm>
          <a:prstGeom prst="roundRect">
            <a:avLst>
              <a:gd name="adj" fmla="val 5500"/>
            </a:avLst>
          </a:prstGeom>
          <a:solidFill>
            <a:srgbClr val="F7F8FB"/>
          </a:solidFill>
          <a:ln w="12700">
            <a:solidFill>
              <a:srgbClr val="C8D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011680"/>
            <a:ext cx="64008" cy="2377440"/>
          </a:xfrm>
          <a:prstGeom prst="rect">
            <a:avLst/>
          </a:prstGeom>
          <a:solidFill>
            <a:srgbClr val="163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176272"/>
            <a:ext cx="4992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0E2456"/>
                </a:solidFill>
                <a:latin typeface="맑은 고딕"/>
              </a:rPr>
              <a:t>방법 A — 웹에서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578608"/>
            <a:ext cx="499262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0">
                <a:solidFill>
                  <a:srgbClr val="5B6476"/>
                </a:solidFill>
                <a:latin typeface="맑은 고딕"/>
              </a:rPr>
              <a:t>1. 하단 ‘URL 로 포토카드 만들기’ 에 링크 붙여넣기</a:t>
            </a:r>
          </a:p>
          <a:p>
            <a:pPr algn="l">
              <a:lnSpc>
                <a:spcPct val="132000"/>
              </a:lnSpc>
            </a:pPr>
            <a:r>
              <a:rPr sz="1100" b="0">
                <a:solidFill>
                  <a:srgbClr val="5B6476"/>
                </a:solidFill>
                <a:latin typeface="맑은 고딕"/>
              </a:rPr>
              <a:t>2. ‘분석’ → 미리보기(제목·요약·SWOT) 확인</a:t>
            </a:r>
          </a:p>
          <a:p>
            <a:pPr algn="l">
              <a:lnSpc>
                <a:spcPct val="132000"/>
              </a:lnSpc>
            </a:pPr>
            <a:r>
              <a:rPr sz="1100" b="0">
                <a:solidFill>
                  <a:srgbClr val="5B6476"/>
                </a:solidFill>
                <a:latin typeface="맑은 고딕"/>
              </a:rPr>
              <a:t>3. ‘등록’ → 전체 기사 목록에 추가</a:t>
            </a:r>
          </a:p>
          <a:p>
            <a:pPr algn="l">
              <a:lnSpc>
                <a:spcPct val="132000"/>
              </a:lnSpc>
            </a:pPr>
            <a:r>
              <a:rPr sz="1100" b="0">
                <a:solidFill>
                  <a:srgbClr val="5B6476"/>
                </a:solidFill>
                <a:latin typeface="맑은 고딕"/>
              </a:rPr>
              <a:t>· 오래된 기사도 등록됨 · 「✍ 직접 등록」 배지 표시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27648" y="2011680"/>
            <a:ext cx="5394960" cy="2377440"/>
          </a:xfrm>
          <a:prstGeom prst="roundRect">
            <a:avLst>
              <a:gd name="adj" fmla="val 5500"/>
            </a:avLst>
          </a:prstGeom>
          <a:solidFill>
            <a:srgbClr val="F7F8FB"/>
          </a:solidFill>
          <a:ln w="12700">
            <a:solidFill>
              <a:srgbClr val="C8D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27648" y="2011680"/>
            <a:ext cx="64008" cy="2377440"/>
          </a:xfrm>
          <a:prstGeom prst="rect">
            <a:avLst/>
          </a:prstGeom>
          <a:solidFill>
            <a:srgbClr val="F4B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65392" y="2176272"/>
            <a:ext cx="4992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0E2456"/>
                </a:solidFill>
                <a:latin typeface="맑은 고딕"/>
              </a:rPr>
              <a:t>방법 B — 텔레그램 봇에게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2578608"/>
            <a:ext cx="499262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0">
                <a:solidFill>
                  <a:srgbClr val="5B6476"/>
                </a:solidFill>
                <a:latin typeface="맑은 고딕"/>
              </a:rPr>
              <a:t>1. 봇 DM 에 기사 URL 을 그대로 전송</a:t>
            </a:r>
          </a:p>
          <a:p>
            <a:pPr algn="l">
              <a:lnSpc>
                <a:spcPct val="132000"/>
              </a:lnSpc>
            </a:pPr>
            <a:r>
              <a:rPr sz="1100" b="0">
                <a:solidFill>
                  <a:srgbClr val="5B6476"/>
                </a:solidFill>
                <a:latin typeface="맑은 고딕"/>
              </a:rPr>
              <a:t>2. 10~20초 뒤 분석된 카드가 답장으로 옴</a:t>
            </a:r>
          </a:p>
          <a:p>
            <a:pPr algn="l">
              <a:lnSpc>
                <a:spcPct val="132000"/>
              </a:lnSpc>
            </a:pPr>
            <a:r>
              <a:rPr sz="1100" b="0">
                <a:solidFill>
                  <a:srgbClr val="5B6476"/>
                </a:solidFill>
                <a:latin typeface="맑은 고딕"/>
              </a:rPr>
              <a:t>3. 임계값을 넘으면 채널에도 자동 발송</a:t>
            </a:r>
          </a:p>
          <a:p>
            <a:pPr algn="l">
              <a:lnSpc>
                <a:spcPct val="132000"/>
              </a:lnSpc>
            </a:pPr>
            <a:r>
              <a:rPr sz="1100" b="0">
                <a:solidFill>
                  <a:srgbClr val="5B6476"/>
                </a:solidFill>
                <a:latin typeface="맑은 고딕"/>
              </a:rPr>
              <a:t>· 이동 중에 빠르게 공유할 때 편리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663440"/>
            <a:ext cx="10874959" cy="868680"/>
          </a:xfrm>
          <a:prstGeom prst="roundRect">
            <a:avLst>
              <a:gd name="adj" fmla="val 6000"/>
            </a:avLst>
          </a:prstGeom>
          <a:solidFill>
            <a:srgbClr val="EA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4846320"/>
            <a:ext cx="1028974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1B1F2A"/>
                </a:solidFill>
                <a:latin typeface="맑은 고딕"/>
              </a:rPr>
              <a:t>등록한 기사도 요약·포스코 관점·SWOT 이 자동 생성되고, 중요도순 정렬에서 위로 올라옵니다.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382512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AA3B2"/>
                </a:solidFill>
                <a:latin typeface="맑은 고딕"/>
              </a:rPr>
              <a:t>P-FM NEWS · 포스코 그룹 뉴스 인텔리전스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36047" y="6382512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5B6476"/>
                </a:solidFill>
                <a:latin typeface="맑은 고딕"/>
              </a:rPr>
              <a:t>9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63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4B740"/>
                </a:solidFill>
                <a:latin typeface="맑은 고딕"/>
              </a:rPr>
              <a:t>10  꼭 알아둘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8749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0E2456"/>
                </a:solidFill>
                <a:latin typeface="맑은 고딕"/>
              </a:rPr>
              <a:t>출처와 한계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43584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B6476"/>
                </a:solidFill>
                <a:latin typeface="맑은 고딕"/>
              </a:rPr>
              <a:t>업무에 쓰기 전에 이 네 가지를 기억하세요.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645920"/>
            <a:ext cx="10874959" cy="9525"/>
          </a:xfrm>
          <a:prstGeom prst="rect">
            <a:avLst/>
          </a:prstGeom>
          <a:solidFill>
            <a:srgbClr val="C8D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58368" y="2029968"/>
            <a:ext cx="91440" cy="91440"/>
          </a:xfrm>
          <a:prstGeom prst="ellipse">
            <a:avLst/>
          </a:prstGeom>
          <a:solidFill>
            <a:srgbClr val="163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10618927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1B1F2A"/>
                </a:solidFill>
                <a:latin typeface="맑은 고딕"/>
              </a:rPr>
              <a:t>요약은 재서술, 원문이 원본</a:t>
            </a:r>
            <a:r>
              <a:rPr sz="1350" b="0">
                <a:solidFill>
                  <a:srgbClr val="5B6476"/>
                </a:solidFill>
                <a:latin typeface="맑은 고딕"/>
              </a:rPr>
              <a:t>  본문 전문은 저장·게시하지 않습니다. 인용·보고 전 반드시 ‘원문’ 링크 확인.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651760"/>
            <a:ext cx="91440" cy="91440"/>
          </a:xfrm>
          <a:prstGeom prst="ellipse">
            <a:avLst/>
          </a:prstGeom>
          <a:solidFill>
            <a:srgbClr val="163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587752"/>
            <a:ext cx="10618927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1B1F2A"/>
                </a:solidFill>
                <a:latin typeface="맑은 고딕"/>
              </a:rPr>
              <a:t>AI 분석은 초안</a:t>
            </a:r>
            <a:r>
              <a:rPr sz="1350" b="0">
                <a:solidFill>
                  <a:srgbClr val="5B6476"/>
                </a:solidFill>
                <a:latin typeface="맑은 고딕"/>
              </a:rPr>
              <a:t>  포스코 관점·SWOT·대외협력 영향도는 검토용 초안이며 확정 의견이 아닙니다.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273552"/>
            <a:ext cx="91440" cy="91440"/>
          </a:xfrm>
          <a:prstGeom prst="ellipse">
            <a:avLst/>
          </a:prstGeom>
          <a:solidFill>
            <a:srgbClr val="163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209544"/>
            <a:ext cx="10618927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1B1F2A"/>
                </a:solidFill>
                <a:latin typeface="맑은 고딕"/>
              </a:rPr>
              <a:t>시세는 참고용</a:t>
            </a:r>
            <a:r>
              <a:rPr sz="1350" b="0">
                <a:solidFill>
                  <a:srgbClr val="5B6476"/>
                </a:solidFill>
                <a:latin typeface="맑은 고딕"/>
              </a:rPr>
              <a:t>  헤더 티커의 주가·환율은 지연될 수 있고 투자 권유가 아닙니다.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895344"/>
            <a:ext cx="91440" cy="91440"/>
          </a:xfrm>
          <a:prstGeom prst="ellipse">
            <a:avLst/>
          </a:prstGeom>
          <a:solidFill>
            <a:srgbClr val="163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831336"/>
            <a:ext cx="10618927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1B1F2A"/>
                </a:solidFill>
                <a:latin typeface="맑은 고딕"/>
              </a:rPr>
              <a:t>수집 사각지대</a:t>
            </a:r>
            <a:r>
              <a:rPr sz="1350" b="0">
                <a:solidFill>
                  <a:srgbClr val="5B6476"/>
                </a:solidFill>
                <a:latin typeface="맑은 고딕"/>
              </a:rPr>
              <a:t>  네이버·RSS·정부 사이트 기반이라 100% 아닙니다 — 빠지면 URL 로 직접 등록.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800600"/>
            <a:ext cx="10874959" cy="548640"/>
          </a:xfrm>
          <a:prstGeom prst="roundRect">
            <a:avLst>
              <a:gd name="adj" fmla="val 6000"/>
            </a:avLst>
          </a:prstGeom>
          <a:solidFill>
            <a:srgbClr val="EA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4937760"/>
            <a:ext cx="1028974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1B1F2A"/>
                </a:solidFill>
                <a:latin typeface="맑은 고딕"/>
              </a:rPr>
              <a:t>저작권은 각 언론사에 있습니다. 화면은 제목·요약·링크만 제공합니다.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382512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AA3B2"/>
                </a:solidFill>
                <a:latin typeface="맑은 고딕"/>
              </a:rPr>
              <a:t>P-FM NEWS · 포스코 그룹 뉴스 인텔리전스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36047" y="6382512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5B6476"/>
                </a:solidFill>
                <a:latin typeface="맑은 고딕"/>
              </a:rPr>
              <a:t>10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4B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371600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4B740"/>
                </a:solidFill>
                <a:latin typeface="맑은 고딕"/>
              </a:rPr>
              <a:t>11  시작하기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828800"/>
            <a:ext cx="108749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FFFFFF"/>
                </a:solidFill>
                <a:latin typeface="맑은 고딕"/>
              </a:rPr>
              <a:t>3분이면 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834640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1. 웹 접속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75888" y="2862072"/>
            <a:ext cx="78574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C7D3EE"/>
                </a:solidFill>
                <a:latin typeface="맑은 고딕"/>
              </a:rPr>
              <a:t>사내망에서 서버 주소로 접속 — 전체 기사가 바로 보입니다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584448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2. 텔레그램 채널 참여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75888" y="3611880"/>
            <a:ext cx="78574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C7D3EE"/>
                </a:solidFill>
                <a:latin typeface="맑은 고딕"/>
              </a:rPr>
              <a:t>헤더 ‘✈ Telegram 채널’ 초대 링크 → 채널 입장 → 알림 수신 시작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334256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3. 즐겨찾기·필터 익히기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5888" y="4361688"/>
            <a:ext cx="78574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C7D3EE"/>
                </a:solidFill>
                <a:latin typeface="맑은 고딕"/>
              </a:rPr>
              <a:t>중요도순 정렬 + 관심 카테고리로 나만의 화면 구성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084064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4. (운영자) 마스터 설정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5888" y="5111496"/>
            <a:ext cx="78574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C7D3EE"/>
                </a:solidFill>
                <a:latin typeface="맑은 고딕"/>
              </a:rPr>
              <a:t>임계값·키워드·주간 레포트 수신자 조정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943600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AB0D8"/>
                </a:solidFill>
                <a:latin typeface="맑은 고딕"/>
              </a:rPr>
              <a:t>문의 · 개선 요청 — 대외협력팀  ·  기사 누락 신고는 URL 직접 등록으로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