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96596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4B740"/>
                </a:solidFill>
                <a:latin typeface="맑은 고딕"/>
              </a:rPr>
              <a:t>실무자 사용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95728"/>
            <a:ext cx="108749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맑은 고딕"/>
              </a:rPr>
              <a:t>P-FM News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429000"/>
            <a:ext cx="10874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7D3EE"/>
                </a:solidFill>
                <a:latin typeface="맑은 고딕"/>
              </a:rPr>
              <a:t>포스코 그룹·이차전지 뉴스를 </a:t>
            </a:r>
            <a:r>
              <a:rPr sz="1700" b="1">
                <a:solidFill>
                  <a:srgbClr val="FFFFFF"/>
                </a:solidFill>
                <a:latin typeface="맑은 고딕"/>
              </a:rPr>
              <a:t>실시간 수집·요약·알림</a:t>
            </a:r>
            <a:r>
              <a:rPr sz="1700" b="0">
                <a:solidFill>
                  <a:srgbClr val="C7D3EE"/>
                </a:solidFill>
                <a:latin typeface="맑은 고딕"/>
              </a:rPr>
              <a:t>하는 사내 플랫폼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57200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631436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매일 자동 수집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8" y="4572000"/>
            <a:ext cx="1874520" cy="310896"/>
          </a:xfrm>
          <a:prstGeom prst="roundRect">
            <a:avLst>
              <a:gd name="adj" fmla="val 50000"/>
            </a:avLst>
          </a:prstGeom>
          <a:solidFill>
            <a:srgbClr val="24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7288" y="4631436"/>
            <a:ext cx="1874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AI 요약 + 포스코 관점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4572000"/>
            <a:ext cx="1074420" cy="310896"/>
          </a:xfrm>
          <a:prstGeom prst="roundRect">
            <a:avLst>
              <a:gd name="adj" fmla="val 50000"/>
            </a:avLst>
          </a:prstGeom>
          <a:solidFill>
            <a:srgbClr val="24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4631436"/>
            <a:ext cx="10744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텔레그램 알림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25128" y="4572000"/>
            <a:ext cx="1303020" cy="310896"/>
          </a:xfrm>
          <a:prstGeom prst="roundRect">
            <a:avLst>
              <a:gd name="adj" fmla="val 50000"/>
            </a:avLst>
          </a:prstGeom>
          <a:solidFill>
            <a:srgbClr val="24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25128" y="4631436"/>
            <a:ext cx="13030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대외협력 모니터링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80644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AB0D8"/>
                </a:solidFill>
                <a:latin typeface="맑은 고딕"/>
              </a:rPr>
              <a:t>10분 · 화면 둘러보기 · 알림 설정 · 중요도 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01  문제① · 기사량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하루 367건 → 한 달이면 11,010건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이 많은 기사를 사람이 건당 5분씩 확인·분석한다면, 시간이 감당되지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3442106" cy="128016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965960"/>
            <a:ext cx="3442106" cy="64008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139696"/>
            <a:ext cx="30031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B6476"/>
                </a:solidFill>
                <a:latin typeface="맑은 고딕"/>
              </a:rPr>
              <a:t>하루 수집 기사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468880"/>
            <a:ext cx="30031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37A"/>
                </a:solidFill>
                <a:latin typeface="맑은 고딕"/>
              </a:rPr>
              <a:t>367건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889504"/>
            <a:ext cx="300319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B6476"/>
                </a:solidFill>
                <a:latin typeface="맑은 고딕"/>
              </a:rPr>
              <a:t>최근 7일 실측 평균 · 포스코·이차전지 키워드 118개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965960"/>
            <a:ext cx="3442106" cy="128016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965960"/>
            <a:ext cx="3442106" cy="64008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250" y="2139696"/>
            <a:ext cx="30031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B6476"/>
                </a:solidFill>
                <a:latin typeface="맑은 고딕"/>
              </a:rPr>
              <a:t>1주일만 지나도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250" y="2468880"/>
            <a:ext cx="30031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37A"/>
                </a:solidFill>
                <a:latin typeface="맑은 고딕"/>
              </a:rPr>
              <a:t>2,607건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4250" y="2889504"/>
            <a:ext cx="300319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B6476"/>
                </a:solidFill>
                <a:latin typeface="맑은 고딕"/>
              </a:rPr>
              <a:t>7일 누적 수집 건수 (실측)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1220" y="1965960"/>
            <a:ext cx="3442106" cy="128016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1220" y="1965960"/>
            <a:ext cx="3442106" cy="64008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0676" y="2139696"/>
            <a:ext cx="30031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B6476"/>
                </a:solidFill>
                <a:latin typeface="맑은 고딕"/>
              </a:rPr>
              <a:t>한 달이면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0676" y="2468880"/>
            <a:ext cx="30031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37A"/>
                </a:solidFill>
                <a:latin typeface="맑은 고딕"/>
              </a:rPr>
              <a:t>11,010건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0676" y="2889504"/>
            <a:ext cx="300319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B6476"/>
                </a:solidFill>
                <a:latin typeface="맑은 고딕"/>
              </a:rPr>
              <a:t>일평균 × 30일 환산 (추정)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383280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547872"/>
            <a:ext cx="10326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C0392B"/>
                </a:solidFill>
                <a:latin typeface="맑은 고딕"/>
              </a:rPr>
              <a:t>사람이 건당 5분씩 확인·분석한다면  </a:t>
            </a:r>
            <a:r>
              <a:rPr sz="1200" b="0">
                <a:solidFill>
                  <a:srgbClr val="1B1F2A"/>
                </a:solidFill>
                <a:latin typeface="맑은 고딕"/>
              </a:rPr>
              <a:t>→ 한 달에 약 918시간 (정규직 약 5.3명이 한 달 내내 매달려야 하는 양)</a:t>
            </a:r>
          </a:p>
        </p:txBody>
      </p:sp>
      <p:sp>
        <p:nvSpPr>
          <p:cNvPr id="25" name="Oval 24"/>
          <p:cNvSpPr/>
          <p:nvPr/>
        </p:nvSpPr>
        <p:spPr>
          <a:xfrm>
            <a:off x="658368" y="4315968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251960"/>
            <a:ext cx="106189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B1F2A"/>
                </a:solidFill>
                <a:latin typeface="맑은 고딕"/>
              </a:rPr>
              <a:t>정보 과부하</a:t>
            </a:r>
            <a:r>
              <a:rPr sz="1250" b="0">
                <a:solidFill>
                  <a:srgbClr val="5B6476"/>
                </a:solidFill>
                <a:latin typeface="맑은 고딕"/>
              </a:rPr>
              <a:t>  기사가 넘쳐날수록 무엇을 먼저 봐야 할지 판단하기 어렵고, 확인 기준이 사람마다 달라 일관성을 유지하기 힘듭니다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" y="4919472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855464"/>
            <a:ext cx="106189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B1F2A"/>
                </a:solidFill>
                <a:latin typeface="맑은 고딕"/>
              </a:rPr>
              <a:t>시간이 없다</a:t>
            </a:r>
            <a:r>
              <a:rPr sz="1250" b="0">
                <a:solidFill>
                  <a:srgbClr val="5B6476"/>
                </a:solidFill>
                <a:latin typeface="맑은 고딕"/>
              </a:rPr>
              <a:t>  이 많은 양을 매달 건당 5분씩만 훑어도, 정작 판단·대응에 쓸 시간이 남지 않습니다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1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02  문제② · 골든타임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잘못된 기사가 나오면, 몇 분 안에 움직여야 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확인이 늦어질수록, 시장은 확인되지 않은 내용만으로 먼저 반응합니다.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8368" y="2075688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1061892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B1F2A"/>
                </a:solidFill>
                <a:latin typeface="맑은 고딕"/>
              </a:rPr>
              <a:t>확인되지 않은 정보도 섞여 들어온다</a:t>
            </a:r>
            <a:r>
              <a:rPr sz="1300" b="0">
                <a:solidFill>
                  <a:srgbClr val="5B6476"/>
                </a:solidFill>
                <a:latin typeface="맑은 고딕"/>
              </a:rPr>
              <a:t>  오보·왜곡 보도, 노조·파업설, 경쟁사발 루머성 기사도 수백 건 속에 함께 수집됩니다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2734056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70048"/>
            <a:ext cx="1061892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B1F2A"/>
                </a:solidFill>
                <a:latin typeface="맑은 고딕"/>
              </a:rPr>
              <a:t>골든타임이 있다</a:t>
            </a:r>
            <a:r>
              <a:rPr sz="1300" b="0">
                <a:solidFill>
                  <a:srgbClr val="5B6476"/>
                </a:solidFill>
                <a:latin typeface="맑은 고딕"/>
              </a:rPr>
              <a:t>  정정 요청·해명자료·IR 대응은 초기 대응이 늦을수록 효과가 떨어지고, 그 사이 시장은 확인되지 않은 내용만으로 반응합니다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392424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28416"/>
            <a:ext cx="1061892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B1F2A"/>
                </a:solidFill>
                <a:latin typeface="맑은 고딕"/>
              </a:rPr>
              <a:t>사람이 놓치면 대응도 늦어진다</a:t>
            </a:r>
            <a:r>
              <a:rPr sz="1300" b="0">
                <a:solidFill>
                  <a:srgbClr val="5B6476"/>
                </a:solidFill>
                <a:latin typeface="맑은 고딕"/>
              </a:rPr>
              <a:t>  수백 건 중 이 한 건을 담당자가 직접 찾아내야 하는 구조라면, 대응 시작 자체가 늦어집니다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97680"/>
            <a:ext cx="10874959" cy="77724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4453128"/>
            <a:ext cx="102897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목표  </a:t>
            </a:r>
            <a:r>
              <a:rPr sz="1200" b="0">
                <a:solidFill>
                  <a:srgbClr val="1B1F2A"/>
                </a:solidFill>
                <a:latin typeface="맑은 고딕"/>
              </a:rPr>
              <a:t>기사 발행 → 텔레그램 알림 도달까지 5분 이내(P90).</a:t>
            </a:r>
          </a:p>
          <a:p>
            <a:pPr algn="l">
              <a:lnSpc>
                <a:spcPct val="130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        </a:t>
            </a:r>
            <a:r>
              <a:rPr sz="1200" b="0">
                <a:solidFill>
                  <a:srgbClr val="1B1F2A"/>
                </a:solidFill>
                <a:latin typeface="맑은 고딕"/>
              </a:rPr>
              <a:t>확인은 시스템이 먼저 하고, 사람은 대응에만 시간을 씁니다.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2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03  문제③ · 업무 범위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배터리 산업은 계속 바뀌고, 봐야 할 곳은 많습니다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대외협력은 이차전지 기술·정책, 정부 부처 동향, 환경 규제까지 동시에 봐야 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8368" y="2075688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106189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B1F2A"/>
                </a:solidFill>
                <a:latin typeface="맑은 고딕"/>
              </a:rPr>
              <a:t>이차전지·배터리</a:t>
            </a:r>
            <a:r>
              <a:rPr sz="1250" b="0">
                <a:solidFill>
                  <a:srgbClr val="5B6476"/>
                </a:solidFill>
                <a:latin typeface="맑은 고딕"/>
              </a:rPr>
              <a:t>  소재·셀·전고체·나트륨 배터리 등 기술 트렌드가 몇 달 단위로 바뀝니다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2642616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78608"/>
            <a:ext cx="106189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B1F2A"/>
                </a:solidFill>
                <a:latin typeface="맑은 고딕"/>
              </a:rPr>
              <a:t>정부 부처 동향</a:t>
            </a:r>
            <a:r>
              <a:rPr sz="1250" b="0">
                <a:solidFill>
                  <a:srgbClr val="5B6476"/>
                </a:solidFill>
                <a:latin typeface="맑은 고딕"/>
              </a:rPr>
              <a:t>  산업통상부·환경부 등에서 입법예고·행정예고·정책 발표가 수시로 나옵니다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209544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45536"/>
            <a:ext cx="106189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B1F2A"/>
                </a:solidFill>
                <a:latin typeface="맑은 고딕"/>
              </a:rPr>
              <a:t>환경·통상 규제</a:t>
            </a:r>
            <a:r>
              <a:rPr sz="1250" b="0">
                <a:solidFill>
                  <a:srgbClr val="5B6476"/>
                </a:solidFill>
                <a:latin typeface="맑은 고딕"/>
              </a:rPr>
              <a:t>  탄소중립, CBAM, IRA, 반덤핑 관세 등 해외 규제 변화가 사업에 직접 영향을 줍니다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776472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12464"/>
            <a:ext cx="106189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B1F2A"/>
                </a:solidFill>
                <a:latin typeface="맑은 고딕"/>
              </a:rPr>
              <a:t>전부 한 사람 몫</a:t>
            </a:r>
            <a:r>
              <a:rPr sz="1250" b="0">
                <a:solidFill>
                  <a:srgbClr val="5B6476"/>
                </a:solidFill>
                <a:latin typeface="맑은 고딕"/>
              </a:rPr>
              <a:t>  이 세 영역을 동시에, 매일 놓치지 않고 확인해야 하는 게 대외협력 업무의 특성입니다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617720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754880"/>
            <a:ext cx="10326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그래서 필요한 것  </a:t>
            </a:r>
            <a:r>
              <a:rPr sz="1200" b="0">
                <a:solidFill>
                  <a:srgbClr val="1B1F2A"/>
                </a:solidFill>
                <a:latin typeface="맑은 고딕"/>
              </a:rPr>
              <a:t>자동 수집 + 중요도 판단 + 중요한 것만 즉시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3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04  한눈에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기사가 여러분에게 오기까지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5분마다 자동으로 돕니다. 여러분은 마지막 두 칸만 보면 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377440"/>
            <a:ext cx="1993392" cy="1554480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596896"/>
            <a:ext cx="1993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E2456"/>
                </a:solidFill>
                <a:latin typeface="맑은 고딕"/>
              </a:rPr>
              <a:t>1. 수집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017520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1000" b="0">
                <a:solidFill>
                  <a:srgbClr val="5B6476"/>
                </a:solidFill>
                <a:latin typeface="맑은 고딕"/>
              </a:rPr>
              <a:t>네이버·구글·RSS
키워드 검색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70048" y="3072384"/>
            <a:ext cx="237744" cy="201168"/>
          </a:xfrm>
          <a:prstGeom prst="rightArrow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26080" y="2377440"/>
            <a:ext cx="1993392" cy="1554480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2596896"/>
            <a:ext cx="1993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E2456"/>
                </a:solidFill>
                <a:latin typeface="맑은 고딕"/>
              </a:rPr>
              <a:t>2. 걸러내기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3017520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1000" b="0">
                <a:solidFill>
                  <a:srgbClr val="5B6476"/>
                </a:solidFill>
                <a:latin typeface="맑은 고딕"/>
              </a:rPr>
              <a:t>관련성·중복 제거
중요도 점수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37760" y="3072384"/>
            <a:ext cx="237744" cy="201168"/>
          </a:xfrm>
          <a:prstGeom prst="rightArrow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377440"/>
            <a:ext cx="1993392" cy="1554480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596896"/>
            <a:ext cx="1993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E2456"/>
                </a:solidFill>
                <a:latin typeface="맑은 고딕"/>
              </a:rPr>
              <a:t>3. AI 분석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017520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1000" b="0">
                <a:solidFill>
                  <a:srgbClr val="5B6476"/>
                </a:solidFill>
                <a:latin typeface="맑은 고딕"/>
              </a:rPr>
              <a:t>3~5문장 요약
포스코 관점 · SWOT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205472" y="3072384"/>
            <a:ext cx="237744" cy="201168"/>
          </a:xfrm>
          <a:prstGeom prst="rightArrow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61504" y="2377440"/>
            <a:ext cx="1993392" cy="1554480"/>
          </a:xfrm>
          <a:prstGeom prst="roundRect">
            <a:avLst>
              <a:gd name="adj" fmla="val 8000"/>
            </a:avLst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1504" y="2596896"/>
            <a:ext cx="1993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4. 웹 게시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2" y="3017520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1000" b="0">
                <a:solidFill>
                  <a:srgbClr val="C7D3EE"/>
                </a:solidFill>
                <a:latin typeface="맑은 고딕"/>
              </a:rPr>
              <a:t>포토카드로
전체 기사·대외협력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73184" y="3072384"/>
            <a:ext cx="237744" cy="201168"/>
          </a:xfrm>
          <a:prstGeom prst="rightArrow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29216" y="2377440"/>
            <a:ext cx="1993392" cy="1554480"/>
          </a:xfrm>
          <a:prstGeom prst="roundRect">
            <a:avLst>
              <a:gd name="adj" fmla="val 8000"/>
            </a:avLst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9216" y="2596896"/>
            <a:ext cx="1993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5. 알림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38944" y="3017520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1000" b="0">
                <a:solidFill>
                  <a:srgbClr val="C7D3EE"/>
                </a:solidFill>
                <a:latin typeface="맑은 고딕"/>
              </a:rPr>
              <a:t>중요 기사만
텔레그램 채널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434840"/>
            <a:ext cx="10874959" cy="141732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4645152"/>
            <a:ext cx="1025316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여러분이 보는 것  </a:t>
            </a:r>
            <a:r>
              <a:rPr sz="1200" b="0">
                <a:solidFill>
                  <a:srgbClr val="1B1F2A"/>
                </a:solidFill>
                <a:latin typeface="맑은 고딕"/>
              </a:rPr>
              <a:t>① 웹 화면 — 전체 기사·대외협력·주간동향 (필터·검색·즐겨찾기)</a:t>
            </a:r>
          </a:p>
          <a:p>
            <a:pPr algn="l">
              <a:lnSpc>
                <a:spcPct val="135000"/>
              </a:lnSpc>
            </a:pPr>
            <a:r>
              <a:rPr sz="600" b="0">
                <a:solidFill>
                  <a:srgbClr val="1B1F2A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                     </a:t>
            </a:r>
            <a:r>
              <a:rPr sz="1200" b="0">
                <a:solidFill>
                  <a:srgbClr val="1B1F2A"/>
                </a:solidFill>
                <a:latin typeface="맑은 고딕"/>
              </a:rPr>
              <a:t>② 텔레그램 채널 — 중요 기사가 요약·포스코 관점과 함께 실시간 도착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4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05  화면 둘러보기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전체 기사 — 포토카드 피드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수집·분석이 끝난 기사가 최신순으로. 필터로 원하는 것만 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011680"/>
            <a:ext cx="5394960" cy="1874519"/>
          </a:xfrm>
          <a:prstGeom prst="roundRect">
            <a:avLst>
              <a:gd name="adj" fmla="val 55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011680"/>
            <a:ext cx="64008" cy="1874519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176272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E2456"/>
                </a:solidFill>
                <a:latin typeface="맑은 고딕"/>
              </a:rPr>
              <a:t>카드 하나에 담긴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578608"/>
            <a:ext cx="4992624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제목 · 언론사 · 기자 · 발행시각 · 썸네일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AI 요약 3~5문장 (사실만, 재서술)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포스코 관점 — 소재사업 시사점 1~2문장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SWOT 배지 (숫자 클릭 → S/W/O/T 근거)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그룹사·카테고리·키워드 태그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2011680"/>
            <a:ext cx="5394960" cy="1874519"/>
          </a:xfrm>
          <a:prstGeom prst="roundRect">
            <a:avLst>
              <a:gd name="adj" fmla="val 55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7648" y="2011680"/>
            <a:ext cx="64008" cy="1874519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176272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E2456"/>
                </a:solidFill>
                <a:latin typeface="맑은 고딕"/>
              </a:rPr>
              <a:t>필터 (왼쪽 접이식)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578608"/>
            <a:ext cx="4992624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기간 — 오늘 / 7일 / 30일 / 전체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정렬 — 최신순 / 중요도순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그룹사 · 카테고리 · 언론사 (중복 선택)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검색 — 제목·요약·기자·언론사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★ 즐겨찾기 — 카드 우측 별표, 브라우저에 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206240"/>
            <a:ext cx="10874959" cy="155448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407408"/>
            <a:ext cx="1025316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팁  </a:t>
            </a:r>
            <a:r>
              <a:rPr sz="1200" b="0">
                <a:solidFill>
                  <a:srgbClr val="1B1F2A"/>
                </a:solidFill>
                <a:latin typeface="맑은 고딕"/>
              </a:rPr>
              <a:t>‘중요도순’ + 카테고리 ‘배터리·이차전지’ 로 두면 소재사업 핵심만 위로 올라옵니다.</a:t>
            </a:r>
          </a:p>
          <a:p>
            <a:pPr algn="l">
              <a:lnSpc>
                <a:spcPct val="140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팁  </a:t>
            </a:r>
            <a:r>
              <a:rPr sz="1200" b="0">
                <a:solidFill>
                  <a:srgbClr val="1B1F2A"/>
                </a:solidFill>
                <a:latin typeface="맑은 고딕"/>
              </a:rPr>
              <a:t>기사 URL 을 직접 넣어 카드로 만들 수 있습니다 (하단 ‘URL 로 포토카드 만들기’).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5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06  화면 둘러보기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대외협력 (/ea) — 대관·통상 모니터링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헤더 ‘🏛 대외협력’ 버튼. 뉴스 피드와 분리된 전용 화면입니다.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65960"/>
            <a:ext cx="10874959" cy="40233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066544"/>
            <a:ext cx="208949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58763" y="2066544"/>
            <a:ext cx="5660381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02024" y="2066544"/>
            <a:ext cx="257643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핵심 지표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368296"/>
            <a:ext cx="10874959" cy="402336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2761107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478024"/>
            <a:ext cx="208949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입법·행정예고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8763" y="2478024"/>
            <a:ext cx="5660381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정부 입법·행정예고 (국민참여입법센터)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2024" y="2478024"/>
            <a:ext cx="257643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맑은 고딕"/>
              </a:rPr>
              <a:t>의견제출 마감 D-day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163443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880360"/>
            <a:ext cx="208949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국회 의안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8763" y="2880360"/>
            <a:ext cx="5660381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발의 법률안 (열린국회정보)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2024" y="2880360"/>
            <a:ext cx="257643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소관 상임위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2968"/>
            <a:ext cx="10874959" cy="402336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565779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3282696"/>
            <a:ext cx="208949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정책 동향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58763" y="3282696"/>
            <a:ext cx="5660381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정부/정책 기사 (korea.kr 등)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2024" y="3282696"/>
            <a:ext cx="257643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발표 부처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968115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3685032"/>
            <a:ext cx="208949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통상 환경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58763" y="3685032"/>
            <a:ext cx="5660381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KOTRA 해외시장뉴스 (반덤핑·CBAM·수출통제)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2024" y="3685032"/>
            <a:ext cx="257643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맑은 고딕"/>
              </a:rPr>
              <a:t>영향도 high/med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3977640"/>
            <a:ext cx="10874959" cy="402336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370451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087368"/>
            <a:ext cx="208949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부처별 동향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58763" y="4087368"/>
            <a:ext cx="5660381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부처 정책뉴스 (산업통상부 등)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2024" y="4087368"/>
            <a:ext cx="257643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부처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800600"/>
            <a:ext cx="10874959" cy="100584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9264" y="4974336"/>
            <a:ext cx="1025316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필터  </a:t>
            </a:r>
            <a:r>
              <a:rPr sz="1150" b="0">
                <a:solidFill>
                  <a:srgbClr val="1B1F2A"/>
                </a:solidFill>
                <a:latin typeface="맑은 고딕"/>
              </a:rPr>
              <a:t>카테고리 · 기관(부처·상임위·KOTRA) · 영향도 · 포스코 그룹사 · 정렬(마감임박/최신/영향도).  </a:t>
            </a:r>
          </a:p>
          <a:p>
            <a:pPr algn="l">
              <a:lnSpc>
                <a:spcPct val="140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            </a:t>
            </a:r>
            <a:r>
              <a:rPr sz="1150" b="0">
                <a:solidFill>
                  <a:srgbClr val="1B1F2A"/>
                </a:solidFill>
                <a:latin typeface="맑은 고딕"/>
              </a:rPr>
              <a:t>입법·행정예고는 마감 D-7 이내면 상단에 빨간 배너로 뜹니다.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6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07  텔레그램 알림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중요한 내용만, 골든타임 안에 도착합니다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채널 초대 링크는 헤더 ‘✈ Telegram 채널’. 봇이 개별 카드로 보냅니다.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8368" y="2029968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1061892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오는 기사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중요도 ‘임계값(기본 50)’ 이상 + 관련성 통과 + 발행 6시간 이내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2615184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51176"/>
            <a:ext cx="1061892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한 건씩 개별 카드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제목·언론사·요약·포스코 관점·점수·태그 — 묶음(다이제스트) 없음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200400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36392"/>
            <a:ext cx="1061892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야간 규칙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밤 11시~오전 7시엔 80점 이상 또는 예외 규칙 건만 즉시, 나머지는 아침에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785616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21608"/>
            <a:ext cx="1061892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중복은 자동 제거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같은 사건을 여러 매체가 쓰면 대표 1건만, 더 권위 있는 매체로 승격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663440"/>
            <a:ext cx="10874959" cy="137160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809744"/>
            <a:ext cx="1025316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6337A"/>
                </a:solidFill>
                <a:latin typeface="맑은 고딕"/>
              </a:rPr>
              <a:t>놓친 기사는 직접 등록  </a:t>
            </a:r>
            <a:r>
              <a:rPr sz="1150" b="0">
                <a:solidFill>
                  <a:srgbClr val="1B1F2A"/>
                </a:solidFill>
                <a:latin typeface="맑은 고딕"/>
              </a:rPr>
              <a:t>웹 하단 ‘URL 로 포토카드 만들기’ 또는 텔레그램 봇 DM 에 링크 전송 — 10~20초 뒤 카드가 생깁니다.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16337A"/>
                </a:solidFill>
                <a:latin typeface="맑은 고딕"/>
              </a:rPr>
              <a:t>직접 등록한 기사  </a:t>
            </a:r>
            <a:r>
              <a:rPr sz="1150" b="0">
                <a:solidFill>
                  <a:srgbClr val="1B1F2A"/>
                </a:solidFill>
                <a:latin typeface="맑은 고딕"/>
              </a:rPr>
              <a:t>임계값을 넘으면 채널에도 자동 발송됩니다 (사람이 고른 것이라 야간·억제 무시).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16337A"/>
                </a:solidFill>
                <a:latin typeface="맑은 고딕"/>
              </a:rPr>
              <a:t>발송이 멈췄다면  </a:t>
            </a:r>
            <a:r>
              <a:rPr sz="1150" b="0">
                <a:solidFill>
                  <a:srgbClr val="1B1F2A"/>
                </a:solidFill>
                <a:latin typeface="맑은 고딕"/>
              </a:rPr>
              <a:t>마스터 패널 ‘텔레그램 알림 사용’ 스위치 또는 봇 /stop 상태를 확인하세요.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7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08  중요도 점수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0~100점, 규칙으로 매깁니다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제목·본문·언론사를 규칙으로 채점. 임계값·정렬·야간 규칙의 기준입니다.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38528"/>
            <a:ext cx="10874959" cy="384048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039112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무엇이 있으면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7303" y="2039112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점수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22576"/>
            <a:ext cx="10874959" cy="38404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697099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2432304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포스코퓨처엠이 제목에 / 본문에만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7303" y="2432304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7A"/>
                </a:solidFill>
                <a:latin typeface="맑은 고딕"/>
              </a:rPr>
              <a:t>+50 / +40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081147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816352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다른 계열사(홀딩스·DX·인터내셔널·이앤씨 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7303" y="2816352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7A"/>
                </a:solidFill>
                <a:latin typeface="맑은 고딕"/>
              </a:rPr>
              <a:t>+25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090672"/>
            <a:ext cx="10874959" cy="38404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465195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200400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배터리 생태계(소재·셀·전기차·ESS·원료) 제목에 / 본문에만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7303" y="3200400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7A"/>
                </a:solidFill>
                <a:latin typeface="맑은 고딕"/>
              </a:rPr>
              <a:t>+25 / +12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49243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3584448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해외 통상 조치(IRA·CBAM·반덤핑 등) 신호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7303" y="3584448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7A"/>
                </a:solidFill>
                <a:latin typeface="맑은 고딕"/>
              </a:rPr>
              <a:t>+15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58768"/>
            <a:ext cx="10874959" cy="38404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4233291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3968496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정책 키워드(전기요금·배출권·특화단지 등)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7303" y="3968496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7A"/>
                </a:solidFill>
                <a:latin typeface="맑은 고딕"/>
              </a:rPr>
              <a:t>+20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617339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4352544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주요 언론사(연합·전자신문·머니투데이 등)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7303" y="4352544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7A"/>
                </a:solidFill>
                <a:latin typeface="맑은 고딕"/>
              </a:rPr>
              <a:t>+10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4626864"/>
            <a:ext cx="10874959" cy="38404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5001387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4736592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단순 시황·주가 기사(목표주가·코스피·투자의견)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7303" y="4736592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맑은 고딕"/>
              </a:rPr>
              <a:t>−15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303520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976" y="5440680"/>
            <a:ext cx="102897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6337A"/>
                </a:solidFill>
                <a:latin typeface="맑은 고딕"/>
              </a:rPr>
              <a:t>예)  </a:t>
            </a:r>
            <a:r>
              <a:rPr sz="1150" b="0">
                <a:solidFill>
                  <a:srgbClr val="1B1F2A"/>
                </a:solidFill>
                <a:latin typeface="맑은 고딕"/>
              </a:rPr>
              <a:t>“포스코퓨처엠 양극재 3만톤 증설”(조선일보) = 50 + 10 = 60점  ·  임계값 50이면 → 알림 발송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8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09  마스터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내가 원하는 알림만 받기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헤더 ‘🔒 마스터’ + 비밀번호. 설정은 전 사용자 공통으로 적용됩니다.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38528"/>
            <a:ext cx="10874959" cy="384048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039112"/>
            <a:ext cx="58296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2226" y="2039112"/>
            <a:ext cx="47185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3615" y="2039112"/>
            <a:ext cx="502484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이렇게 쓰세요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322576"/>
            <a:ext cx="10874959" cy="38404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2697099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432304"/>
            <a:ext cx="58296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2226" y="2432304"/>
            <a:ext cx="47185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텔레그램 알림 사용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3615" y="2432304"/>
            <a:ext cx="502484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전체 ON/OFF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081147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816352"/>
            <a:ext cx="58296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2226" y="2816352"/>
            <a:ext cx="47185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중요도 임계값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3615" y="2816352"/>
            <a:ext cx="502484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낮추면 많이 · 올리면 핵심만 (권장 40+)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90672"/>
            <a:ext cx="10874959" cy="38404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465195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3200400"/>
            <a:ext cx="58296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2226" y="3200400"/>
            <a:ext cx="47185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무조건 발송 점수 / 항상 발송 키워드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3615" y="3200400"/>
            <a:ext cx="502484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이건 밤에도·점수 무관하게 꼭 받겠다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849243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3584448"/>
            <a:ext cx="58296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2226" y="3584448"/>
            <a:ext cx="47185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정책브리핑 · 통상환경 켜기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3615" y="3584448"/>
            <a:ext cx="502484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2단 키워드로 관심 주제만 골라 받기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3858768"/>
            <a:ext cx="10874959" cy="38404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233291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3968496"/>
            <a:ext cx="58296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2226" y="3968496"/>
            <a:ext cx="47185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주간 레포트 수신자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615" y="3968496"/>
            <a:ext cx="502484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이메일 추가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4617339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4352544"/>
            <a:ext cx="58296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2226" y="4352544"/>
            <a:ext cx="47185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비밀번호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3615" y="4352544"/>
            <a:ext cx="502484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운영자만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4983480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0976" y="5138928"/>
            <a:ext cx="102897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6337A"/>
                </a:solidFill>
                <a:latin typeface="맑은 고딕"/>
              </a:rPr>
              <a:t>2단 키워드 예)  </a:t>
            </a:r>
            <a:r>
              <a:rPr sz="1150" b="0">
                <a:solidFill>
                  <a:srgbClr val="1B1F2A"/>
                </a:solidFill>
                <a:latin typeface="맑은 고딕"/>
              </a:rPr>
              <a:t>① ‘전기요금’ + ② ‘산업’  →  “산업용 전기요금” 은 발송, “가정용 전기요금” 은 제외.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9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10  꼭 알아둘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출처와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업무에 쓰기 전에 이 네 가지를 기억하세요.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8368" y="2029968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10618927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요약은 재서술, 원문이 원본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본문 전문은 저장·게시하지 않습니다. 인용·보고 전 반드시 ‘원문’ 링크 확인.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2651760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87752"/>
            <a:ext cx="10618927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AI 분석은 초안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포스코 관점·SWOT·대외협력 영향도는 검토용 초안이며 확정 의견이 아닙니다.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273552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09544"/>
            <a:ext cx="10618927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시세는 참고용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헤더 티커의 주가·환율은 지연될 수 있고 투자 권유가 아닙니다.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895344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31336"/>
            <a:ext cx="10618927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수집 사각지대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네이버·RSS·정부 사이트 기반이라 100% 아닙니다 — 빠지면 URL 로 직접 등록.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0060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4937760"/>
            <a:ext cx="102897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B1F2A"/>
                </a:solidFill>
                <a:latin typeface="맑은 고딕"/>
              </a:rPr>
              <a:t>저작권은 각 언론사에 있습니다. 화면은 제목·요약·링크만 제공합니다.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10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4B740"/>
                </a:solidFill>
                <a:latin typeface="맑은 고딕"/>
              </a:rPr>
              <a:t>11  시작하기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맑은 고딕"/>
              </a:rPr>
              <a:t>3분이면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83464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1. 웹 접속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8" y="2862072"/>
            <a:ext cx="7857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C7D3EE"/>
                </a:solidFill>
                <a:latin typeface="맑은 고딕"/>
              </a:rPr>
              <a:t>사내망에서 서버 주소로 접속 — 전체 기사가 바로 보입니다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58444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2. 텔레그램 채널 참여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5888" y="3611880"/>
            <a:ext cx="7857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C7D3EE"/>
                </a:solidFill>
                <a:latin typeface="맑은 고딕"/>
              </a:rPr>
              <a:t>헤더 ‘✈ Telegram 채널’ 초대 링크 → 채널 입장 → 알림 수신 시작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33425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3. 즐겨찾기·필터 익히기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4361688"/>
            <a:ext cx="7857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C7D3EE"/>
                </a:solidFill>
                <a:latin typeface="맑은 고딕"/>
              </a:rPr>
              <a:t>중요도순 정렬 + 관심 카테고리로 나만의 화면 구성, 주간동향에서 한 주 요약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084064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4. (운영자) 마스터 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8" y="5111496"/>
            <a:ext cx="7857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C7D3EE"/>
                </a:solidFill>
                <a:latin typeface="맑은 고딕"/>
              </a:rPr>
              <a:t>임계값·키워드·주간 레포트 수신자 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94360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AB0D8"/>
                </a:solidFill>
                <a:latin typeface="맑은 고딕"/>
              </a:rPr>
              <a:t>문의 · 개선 요청 — 대외협력팀  ·  기사 누락 신고는 URL 직접 등록으로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